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Willkommen. In dieser Vorstellung geht es um NOMAD: einen kleinen Wissensserver für zu Hause, der auch dann noch funktioniert, wenn das Internet nicht mehr da ist. Wir zeigen, was das ist, wie man es einrichtet und wo seine Grenzen liegen.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Stellen Sie sich einen Tag ohne Strom vor. Plötzlich ist es dunkel. Kein Licht, kein WLAN, kein Fernseher. Nach einer Stunde wird es still im Haus. Und dann fällt auf, was eigentlich fehlt: das Wissen.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Ohne Strom fällt auch das Internet aus. Kein Streaming, kein Radio über das Netz, und das Handy ist schnell leer. Nachrichten, Wetter und Karten sind nicht mehr erreichbar.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 meisten fehlt das Nachschlagen. Wikipedia ist nicht erreichbar. Es gibt keine Anleitung für Heizung und Herd, keine Hinweise zur Ersten Hilfe, keine Karte für die Umleitung.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 die Kinder und Enkel? Filme und Spiele fallen weg, auch das Lernen und Üben. Bücher und Brettspiele helfen. Aber nicht jeder hat die richtigen Bücher im Regal.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Idee von NOMAD ist einfach: Das Wissen kommt ins Haus. NOMAD läuft auf einem Rechner bei Ihnen. Sie richten es einmal ein und laden einmal die Inhalte herunter. Danach brauchen Sie kein Internet mehr.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Drei Wörter, einfach erklärt. Ein Server ist ein Computer, der anderen etwas gibt, und er steht bei Ihnen im Regal. Offline heißt: ohne Internet, alles ist schon im Haus. Und der Browser ist das Fenster, in dem Sie schauen; NOMAD öffnen Sie wie eine Internetseite.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sieht NOMAD aus. Das ist die Kommandozentrale, die Startseite. Hier finden Sie Karten, den Schnellstart zum Einrichten, das Supply Depot für weitere Programme, Anleitungen und die Einstellungen. Alles ist auf Deutsch.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Was steckt in NOMAD? Die deutsche und die englische Wikipedia und viele Nachschlagewerke, zum Beispiel zu Medizin, Kochen und Reparieren. Karten, bei denen Sie ganze Länder wählen können, auch Deutschland. Lernmaterial. Ein Chat mit einer KI, die auf Ihrem Rechner läuft. Und Ihre eigenen Dokumente.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 einfachste Weg ist eine USB-SSD. Das ist eine kleine, schnelle Festplatte am Kabel mit mindestens 512 Gigabyte. Darauf schreiben Sie ein fertiges System. Dann starten Sie Ihren vorhandenen Windows-Rechner von dieser Platte. Windows selbst bleibt unberührt, es wird nichts gelöscht.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 zweite Weg ist ein eigener Rechner, zum Beispiel ein altes Notebook. Darauf installieren Sie das kostenlose Betriebssystem Ubuntu und geben einen einzigen Befehl ein. Das ist etwas für Technikfreunde, oder man lässt sich helfen.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Eingerichtet wird mit dem Schnellstart in vier Schritten: Apps, Karten, Inhalte und Überprüfen. Sie haken an, was Sie möchten, und NOMAD lädt es herunter.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Jeder Themenbereich hat drei Stufen: Basis, Standard und Umfassend. Basis ist das Wichtigste und klein. Alle deutschen Bereiche zusammen sind in der Basisstufe nur etwa ein halbes Gigabyte, in Standard etwa 6,7 und in Umfassend etwa 23 Gigabyte. Die englischen Bereiche sind größer, bis zu 89 Gigabyte. Die deutsche Wikipedia kommt je nach Wunsch dazu, von 0,14 bis 51 Gigabyte.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Bei den Karten wählen Sie ein Land und den Detailgrad. Deutschland bis zur Stadtebene braucht nur etwa 120 Megabyte. Mit jeder einzelnen Straße sind es etwa 5,6 Gigabyte. NOMAD zeigt die Größe vorher an.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 wann geht es ohne Internet? Direkt nach dem Start können Sie die Anleitungen lesen. Sobald die Inhalte geladen sind, können Sie Wikipedia und die Nachschlagewerke nutzen. Karten und KI brauchen jeweils einmal Internet, damit sie geladen werden. Merksatz: Was Sie herunterladen, braucht Internet. Was Sie lesen oder suchen, nicht.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 es wirklich funktioniert, zeigt der Offline-Test. Netzwerkkabel ziehen, den Rechner ohne Netz neu starten und die Checkliste im Handbuch abhaken. Machen Sie ihn einmal gründlich, solange das Internet noch erreichbar ist.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Wie lange läuft das System? Ein Notebook braucht im Betrieb etwa 20 Watt. Eine Powerbank mit 99 Wattstunden reicht für etwa vier Stunden, eine Powerstation mit 500 Wattstunden für etwa einundzwanzig Stunden bei Dauerbetrieb. Ein Solarpanel mit 100 Watt liefert im Sommer rund 350 Wattstunden am Tag, im Winter oft nur 50 bis 100. Im Handbuch steht die Rechnung zum Selbstausfüllen.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Zu NOMAD gehört ein Handbuch zum Ausdrucken. Es hat rund 55 Seiten, jeder Schritt mit Bild. Es gibt eine Notfall-Karte für den Küchenschrank und Tabellen zum Ausfüllen, etwa für den Softwarestand, die geladenen Inhalte und die Zugangsdaten. Es gibt das Handbuch als PDF und als Webseite.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Notfall-KI ist ein Sprachassistent, der auf Ihrem Rechner läuft, ohne Internet. Sie stellen Fragen in ganzen Sätzen. Die KI kann Ihre eigenen Dokumente und geladene Nachschlagewerke heranziehen, wenn Sie diese dafür vorbereiten. Sie braucht aber Platz, Arbeitsspeicher und etwas Geduld.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Wie schnell ist das? Mit einem aktuellen Modell, gemma 4, schafft ein moderner Rechner ohne Grafikkarte etwa 14 Wörterstücke pro Sekunde. Mit einer Grafikkarte sind es 106. Ein Nachschlagewerk durchsuchbar zu machen dauert auf einem alten Rechner Stunden, mit Grafikkarte siebeneinhalb Minuten. Wir empfehlen mindestens 16 Gigabyte Arbeitsspeicher.</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Eine wichtige Warnung: Die KI kann irren. In unserem Test hat ein kleines Modell eine Frage zu Plattenplatz mit einer erfundenen Geschichte über ein Funkgerät beantwortet, und dazu eine Quelle genannt. Ein sehr kleines Modell riet bei Erster Hilfe zu gefährlichem Unsinn. Prüfen Sie bei Medizin, Sicherheit und Recht jede Antwort an der Quelle. Die KI ist ein Helfer, kein Arzt.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 Stand heute: Version 1.35.2 ist veröffentlicht. Oberfläche und Anleitungen sind deutsch. Das USB-System ist gebaut und in einer Testumgebung geprüft, einschließlich Update. Handbuch und Notfall-Karte sind fertig. Noch offen ist der Start an einem echten Windows-Rechner.</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Zur Ehrlichkeit gehören die Grenzen. Für Überleben, Vorsorge und die medizinischen Nachschlagewerke gibt es bisher nur englische Bücher. Die Beschriftung der Karten ist englisch. Es gibt keine Unterstützung für Mac und ARM-Rechner. Das Anfangspasswort der USB-SSD ist für alle gleich, bitte ändern Sie es. Und bestimmte Nachschlagewerke, die als PDF vorliegen, kann die KI nicht durchsuchen.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Häufige Fragen. Muss ich an Windows etwas ändern? Nein. Ist das erlaubt? Ja, die Software ist frei nutzbar. Brauche ich einen neuen Rechner? Beim ersten Weg nicht, er nutzt Ihren vorhandenen PC. Und wenn das Netz lange wegbleibt? Dann bleibt alles nutzbar, solange Strom da ist.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Zum Schluss: Sie brauchen Strom, einen PC und einmal ein Netz. Alles andere bleibt bei Ihnen im Haus. Den Quellcode und das Handbuch finden Sie im Projekt auf GitHub. Vielen Dank für Ihre Aufmerksamkeit.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 Id="rId3" Type="http://schemas.openxmlformats.org/officeDocument/2006/relationships/notesSlide" Target="../notesSlides/notesSlide2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itel.jp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1920240"/>
            <a:ext cx="12191695" cy="3017520"/>
          </a:xfrm>
          <a:prstGeom prst="rect">
            <a:avLst/>
          </a:prstGeom>
          <a:solidFill>
            <a:srgbClr val="3B4021">
              <a:alpha val="82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057400"/>
            <a:ext cx="10698480" cy="1280160"/>
          </a:xfrm>
          <a:prstGeom prst="rect">
            <a:avLst/>
          </a:prstGeom>
          <a:noFill/>
        </p:spPr>
        <p:txBody>
          <a:bodyPr wrap="square" anchor="t" lIns="45720" rIns="45720">
            <a:spAutoFit/>
          </a:bodyPr>
          <a:lstStyle/>
          <a:p>
            <a:r>
              <a:rPr sz="7200" b="1">
                <a:solidFill>
                  <a:srgbClr val="FFFFFF"/>
                </a:solidFill>
                <a:latin typeface="Arial"/>
              </a:rPr>
              <a:t>NOMAD</a:t>
            </a:r>
          </a:p>
        </p:txBody>
      </p:sp>
      <p:sp>
        <p:nvSpPr>
          <p:cNvPr id="5" name="TextBox 4"/>
          <p:cNvSpPr txBox="1"/>
          <p:nvPr/>
        </p:nvSpPr>
        <p:spPr>
          <a:xfrm>
            <a:off x="731520" y="3337560"/>
            <a:ext cx="10698480" cy="822960"/>
          </a:xfrm>
          <a:prstGeom prst="rect">
            <a:avLst/>
          </a:prstGeom>
          <a:noFill/>
        </p:spPr>
        <p:txBody>
          <a:bodyPr wrap="square" anchor="t" lIns="45720" rIns="45720">
            <a:spAutoFit/>
          </a:bodyPr>
          <a:lstStyle/>
          <a:p>
            <a:r>
              <a:rPr sz="3400" b="0">
                <a:solidFill>
                  <a:srgbClr val="F4EDD8"/>
                </a:solidFill>
                <a:latin typeface="Arial"/>
              </a:rPr>
              <a:t>Wissen, das ohne Internet funktioniert</a:t>
            </a:r>
          </a:p>
        </p:txBody>
      </p:sp>
      <p:sp>
        <p:nvSpPr>
          <p:cNvPr id="6" name="TextBox 5"/>
          <p:cNvSpPr txBox="1"/>
          <p:nvPr/>
        </p:nvSpPr>
        <p:spPr>
          <a:xfrm>
            <a:off x="731520" y="4251960"/>
            <a:ext cx="10698480" cy="548640"/>
          </a:xfrm>
          <a:prstGeom prst="rect">
            <a:avLst/>
          </a:prstGeom>
          <a:noFill/>
        </p:spPr>
        <p:txBody>
          <a:bodyPr wrap="square" anchor="t" lIns="45720" rIns="45720">
            <a:spAutoFit/>
          </a:bodyPr>
          <a:lstStyle/>
          <a:p>
            <a:r>
              <a:rPr sz="1600" b="0">
                <a:solidFill>
                  <a:srgbClr val="F4EDD8"/>
                </a:solidFill>
                <a:latin typeface="Arial"/>
              </a:rPr>
              <a:t>Die deutsche Fassung von Project NOMAD · Stand Oktober 2026 · Version 1.35.2</a:t>
            </a:r>
          </a:p>
        </p:txBody>
      </p:sp>
      <p:sp>
        <p:nvSpPr>
          <p:cNvPr id="7" name="TextBox 6"/>
          <p:cNvSpPr txBox="1"/>
          <p:nvPr/>
        </p:nvSpPr>
        <p:spPr>
          <a:xfrm>
            <a:off x="640080" y="6446520"/>
            <a:ext cx="8229600" cy="274320"/>
          </a:xfrm>
          <a:prstGeom prst="rect">
            <a:avLst/>
          </a:prstGeom>
          <a:noFill/>
        </p:spPr>
        <p:txBody>
          <a:bodyPr wrap="square" anchor="t" lIns="45720" rIns="45720">
            <a:spAutoFit/>
          </a:bodyPr>
          <a:lstStyle/>
          <a:p>
            <a:r>
              <a:rPr sz="1100" b="0">
                <a:solidFill>
                  <a:srgbClr val="555555"/>
                </a:solidFill>
                <a:latin typeface="Arial"/>
              </a:rPr>
              <a:t>NOMAD – deutsche Fassung (inoffiziell, Apache-2.0)</a:t>
            </a:r>
          </a:p>
        </p:txBody>
      </p:sp>
      <p:sp>
        <p:nvSpPr>
          <p:cNvPr id="8" name="TextBox 7"/>
          <p:cNvSpPr txBox="1"/>
          <p:nvPr/>
        </p:nvSpPr>
        <p:spPr>
          <a:xfrm>
            <a:off x="10881360" y="6446520"/>
            <a:ext cx="914400" cy="274320"/>
          </a:xfrm>
          <a:prstGeom prst="rect">
            <a:avLst/>
          </a:prstGeom>
          <a:noFill/>
        </p:spPr>
        <p:txBody>
          <a:bodyPr wrap="square" anchor="t" lIns="45720" rIns="45720">
            <a:spAutoFit/>
          </a:bodyPr>
          <a:lstStyle/>
          <a:p>
            <a:pPr algn="r"/>
            <a:r>
              <a:rPr sz="1100" b="0">
                <a:solidFill>
                  <a:srgbClr val="555555"/>
                </a:solidFill>
                <a:latin typeface="Arial"/>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56032" cy="6858000"/>
          </a:xfrm>
          <a:prstGeom prst="rect">
            <a:avLst/>
          </a:prstGeom>
          <a:solidFill>
            <a:srgbClr val="3B4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972800" cy="914400"/>
          </a:xfrm>
          <a:prstGeom prst="rect">
            <a:avLst/>
          </a:prstGeom>
          <a:noFill/>
        </p:spPr>
        <p:txBody>
          <a:bodyPr wrap="square" anchor="ctr" lIns="45720" rIns="45720">
            <a:spAutoFit/>
          </a:bodyPr>
          <a:lstStyle/>
          <a:p>
            <a:r>
              <a:rPr sz="3400" b="1">
                <a:solidFill>
                  <a:srgbClr val="3B4021"/>
                </a:solidFill>
                <a:latin typeface="Arial"/>
              </a:rPr>
              <a:t>Ein Tag ohne Strom</a:t>
            </a:r>
          </a:p>
        </p:txBody>
      </p:sp>
      <p:pic>
        <p:nvPicPr>
          <p:cNvPr id="4" name="Picture 3" descr="stromausfall.jpg"/>
          <p:cNvPicPr>
            <a:picLocks noChangeAspect="1"/>
          </p:cNvPicPr>
          <p:nvPr/>
        </p:nvPicPr>
        <p:blipFill>
          <a:blip r:embed="rId2"/>
          <a:stretch>
            <a:fillRect/>
          </a:stretch>
        </p:blipFill>
        <p:spPr>
          <a:xfrm>
            <a:off x="640079" y="2018211"/>
            <a:ext cx="6217920" cy="3553097"/>
          </a:xfrm>
          <a:prstGeom prst="rect">
            <a:avLst/>
          </a:prstGeom>
        </p:spPr>
      </p:pic>
      <p:sp>
        <p:nvSpPr>
          <p:cNvPr id="5" name="TextBox 4"/>
          <p:cNvSpPr txBox="1"/>
          <p:nvPr/>
        </p:nvSpPr>
        <p:spPr>
          <a:xfrm>
            <a:off x="7223760" y="1600200"/>
            <a:ext cx="4480560" cy="4480560"/>
          </a:xfrm>
          <a:prstGeom prst="rect">
            <a:avLst/>
          </a:prstGeom>
          <a:noFill/>
        </p:spPr>
        <p:txBody>
          <a:bodyPr wrap="square" anchor="ctr" lIns="45720" rIns="45720">
            <a:spAutoFit/>
          </a:bodyPr>
          <a:lstStyle/>
          <a:p>
            <a:pPr>
              <a:spcAft>
                <a:spcPts val="1000"/>
              </a:spcAft>
            </a:pPr>
            <a:r>
              <a:rPr sz="2300" b="0">
                <a:solidFill>
                  <a:srgbClr val="1D1D1D"/>
                </a:solidFill>
                <a:latin typeface="Arial"/>
              </a:rPr>
              <a:t>•  Plötzlich ist </a:t>
            </a:r>
            <a:r>
              <a:rPr sz="2300" b="1">
                <a:solidFill>
                  <a:srgbClr val="1D1D1D"/>
                </a:solidFill>
                <a:latin typeface="Arial"/>
              </a:rPr>
              <a:t>alles dunkel</a:t>
            </a:r>
          </a:p>
          <a:p>
            <a:pPr>
              <a:spcAft>
                <a:spcPts val="1000"/>
              </a:spcAft>
            </a:pPr>
            <a:r>
              <a:rPr sz="2300" b="0">
                <a:solidFill>
                  <a:srgbClr val="1D1D1D"/>
                </a:solidFill>
                <a:latin typeface="Arial"/>
              </a:rPr>
              <a:t>•  Kein Licht, kein WLAN, kein Fernseher</a:t>
            </a:r>
          </a:p>
          <a:p>
            <a:pPr>
              <a:spcAft>
                <a:spcPts val="1000"/>
              </a:spcAft>
            </a:pPr>
            <a:r>
              <a:rPr sz="2300" b="0">
                <a:solidFill>
                  <a:srgbClr val="1D1D1D"/>
                </a:solidFill>
                <a:latin typeface="Arial"/>
              </a:rPr>
              <a:t>•  Nach einer Stunde wird es still</a:t>
            </a:r>
          </a:p>
          <a:p>
            <a:pPr>
              <a:spcAft>
                <a:spcPts val="1000"/>
              </a:spcAft>
            </a:pPr>
            <a:r>
              <a:rPr sz="2300" b="0">
                <a:solidFill>
                  <a:srgbClr val="1D1D1D"/>
                </a:solidFill>
                <a:latin typeface="Arial"/>
              </a:rPr>
              <a:t>•  Dann fällt auf: </a:t>
            </a:r>
            <a:r>
              <a:rPr sz="2300" b="1">
                <a:solidFill>
                  <a:srgbClr val="1D1D1D"/>
                </a:solidFill>
                <a:latin typeface="Arial"/>
              </a:rPr>
              <a:t>das Wissen fehlt</a:t>
            </a:r>
          </a:p>
        </p:txBody>
      </p:sp>
      <p:sp>
        <p:nvSpPr>
          <p:cNvPr id="6" name="TextBox 5"/>
          <p:cNvSpPr txBox="1"/>
          <p:nvPr/>
        </p:nvSpPr>
        <p:spPr>
          <a:xfrm>
            <a:off x="640080" y="6446520"/>
            <a:ext cx="8229600" cy="274320"/>
          </a:xfrm>
          <a:prstGeom prst="rect">
            <a:avLst/>
          </a:prstGeom>
          <a:noFill/>
        </p:spPr>
        <p:txBody>
          <a:bodyPr wrap="square" anchor="t" lIns="45720" rIns="45720">
            <a:spAutoFit/>
          </a:bodyPr>
          <a:lstStyle/>
          <a:p>
            <a:r>
              <a:rPr sz="1100" b="0">
                <a:solidFill>
                  <a:srgbClr val="555555"/>
                </a:solidFill>
                <a:latin typeface="Arial"/>
              </a:rPr>
              <a:t>NOMAD – deutsche Fassung (inoffiziell, Apache-2.0)</a:t>
            </a:r>
          </a:p>
        </p:txBody>
      </p:sp>
      <p:sp>
        <p:nvSpPr>
          <p:cNvPr id="7" name="TextBox 6"/>
          <p:cNvSpPr txBox="1"/>
          <p:nvPr/>
        </p:nvSpPr>
        <p:spPr>
          <a:xfrm>
            <a:off x="10881360" y="6446520"/>
            <a:ext cx="914400" cy="274320"/>
          </a:xfrm>
          <a:prstGeom prst="rect">
            <a:avLst/>
          </a:prstGeom>
          <a:noFill/>
        </p:spPr>
        <p:txBody>
          <a:bodyPr wrap="square" anchor="t" lIns="45720" rIns="45720">
            <a:spAutoFit/>
          </a:bodyPr>
          <a:lstStyle/>
          <a:p>
            <a:pPr algn="r"/>
            <a:r>
              <a:rPr sz="1100" b="0">
                <a:solidFill>
                  <a:srgbClr val="555555"/>
                </a:solidFill>
                <a:latin typeface="Aria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56032" cy="6858000"/>
          </a:xfrm>
          <a:prstGeom prst="rect">
            <a:avLst/>
          </a:prstGeom>
          <a:solidFill>
            <a:srgbClr val="3B4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972800" cy="914400"/>
          </a:xfrm>
          <a:prstGeom prst="rect">
            <a:avLst/>
          </a:prstGeom>
          <a:noFill/>
        </p:spPr>
        <p:txBody>
          <a:bodyPr wrap="square" anchor="ctr" lIns="45720" rIns="45720">
            <a:spAutoFit/>
          </a:bodyPr>
          <a:lstStyle/>
          <a:p>
            <a:r>
              <a:rPr sz="3400" b="1">
                <a:solidFill>
                  <a:srgbClr val="3B4021"/>
                </a:solidFill>
                <a:latin typeface="Arial"/>
              </a:rPr>
              <a:t>Was dann nicht mehr geht</a:t>
            </a:r>
          </a:p>
        </p:txBody>
      </p:sp>
      <p:pic>
        <p:nvPicPr>
          <p:cNvPr id="4" name="Picture 3" descr="kein-internet.jpg"/>
          <p:cNvPicPr>
            <a:picLocks noChangeAspect="1"/>
          </p:cNvPicPr>
          <p:nvPr/>
        </p:nvPicPr>
        <p:blipFill>
          <a:blip r:embed="rId2"/>
          <a:stretch>
            <a:fillRect/>
          </a:stretch>
        </p:blipFill>
        <p:spPr>
          <a:xfrm>
            <a:off x="640079" y="2018211"/>
            <a:ext cx="6217920" cy="3553097"/>
          </a:xfrm>
          <a:prstGeom prst="rect">
            <a:avLst/>
          </a:prstGeom>
        </p:spPr>
      </p:pic>
      <p:sp>
        <p:nvSpPr>
          <p:cNvPr id="5" name="TextBox 4"/>
          <p:cNvSpPr txBox="1"/>
          <p:nvPr/>
        </p:nvSpPr>
        <p:spPr>
          <a:xfrm>
            <a:off x="7223760" y="1600200"/>
            <a:ext cx="4480560" cy="4480560"/>
          </a:xfrm>
          <a:prstGeom prst="rect">
            <a:avLst/>
          </a:prstGeom>
          <a:noFill/>
        </p:spPr>
        <p:txBody>
          <a:bodyPr wrap="square" anchor="ctr" lIns="45720" rIns="45720">
            <a:spAutoFit/>
          </a:bodyPr>
          <a:lstStyle/>
          <a:p>
            <a:pPr>
              <a:spcAft>
                <a:spcPts val="1000"/>
              </a:spcAft>
            </a:pPr>
            <a:r>
              <a:rPr sz="2300" b="0">
                <a:solidFill>
                  <a:srgbClr val="1D1D1D"/>
                </a:solidFill>
                <a:latin typeface="Arial"/>
              </a:rPr>
              <a:t>•  Kein Internet, kein WLAN</a:t>
            </a:r>
          </a:p>
          <a:p>
            <a:pPr>
              <a:spcAft>
                <a:spcPts val="1000"/>
              </a:spcAft>
            </a:pPr>
            <a:r>
              <a:rPr sz="2300" b="0">
                <a:solidFill>
                  <a:srgbClr val="1D1D1D"/>
                </a:solidFill>
                <a:latin typeface="Arial"/>
              </a:rPr>
              <a:t>•  Kein Streaming, kein Radio über das Netz</a:t>
            </a:r>
          </a:p>
          <a:p>
            <a:pPr>
              <a:spcAft>
                <a:spcPts val="1000"/>
              </a:spcAft>
            </a:pPr>
            <a:r>
              <a:rPr sz="2300" b="0">
                <a:solidFill>
                  <a:srgbClr val="1D1D1D"/>
                </a:solidFill>
                <a:latin typeface="Arial"/>
              </a:rPr>
              <a:t>•  Das Handy ist schnell leer</a:t>
            </a:r>
          </a:p>
          <a:p>
            <a:pPr>
              <a:spcAft>
                <a:spcPts val="1000"/>
              </a:spcAft>
            </a:pPr>
            <a:r>
              <a:rPr sz="2300" b="0">
                <a:solidFill>
                  <a:srgbClr val="1D1D1D"/>
                </a:solidFill>
                <a:latin typeface="Arial"/>
              </a:rPr>
              <a:t>•  Nachrichten, Wetter, Karten: nicht erreichbar</a:t>
            </a:r>
          </a:p>
        </p:txBody>
      </p:sp>
      <p:sp>
        <p:nvSpPr>
          <p:cNvPr id="6" name="TextBox 5"/>
          <p:cNvSpPr txBox="1"/>
          <p:nvPr/>
        </p:nvSpPr>
        <p:spPr>
          <a:xfrm>
            <a:off x="640080" y="6446520"/>
            <a:ext cx="8229600" cy="274320"/>
          </a:xfrm>
          <a:prstGeom prst="rect">
            <a:avLst/>
          </a:prstGeom>
          <a:noFill/>
        </p:spPr>
        <p:txBody>
          <a:bodyPr wrap="square" anchor="t" lIns="45720" rIns="45720">
            <a:spAutoFit/>
          </a:bodyPr>
          <a:lstStyle/>
          <a:p>
            <a:r>
              <a:rPr sz="1100" b="0">
                <a:solidFill>
                  <a:srgbClr val="555555"/>
                </a:solidFill>
                <a:latin typeface="Arial"/>
              </a:rPr>
              <a:t>NOMAD – deutsche Fassung (inoffiziell, Apache-2.0)</a:t>
            </a:r>
          </a:p>
        </p:txBody>
      </p:sp>
      <p:sp>
        <p:nvSpPr>
          <p:cNvPr id="7" name="TextBox 6"/>
          <p:cNvSpPr txBox="1"/>
          <p:nvPr/>
        </p:nvSpPr>
        <p:spPr>
          <a:xfrm>
            <a:off x="10881360" y="6446520"/>
            <a:ext cx="914400" cy="274320"/>
          </a:xfrm>
          <a:prstGeom prst="rect">
            <a:avLst/>
          </a:prstGeom>
          <a:noFill/>
        </p:spPr>
        <p:txBody>
          <a:bodyPr wrap="square" anchor="t" lIns="45720" rIns="45720">
            <a:spAutoFit/>
          </a:bodyPr>
          <a:lstStyle/>
          <a:p>
            <a:pPr algn="r"/>
            <a:r>
              <a:rPr sz="1100" b="0">
                <a:solidFill>
                  <a:srgbClr val="555555"/>
                </a:solidFill>
                <a:latin typeface="Aria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56032" cy="6858000"/>
          </a:xfrm>
          <a:prstGeom prst="rect">
            <a:avLst/>
          </a:prstGeom>
          <a:solidFill>
            <a:srgbClr val="3B4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972800" cy="914400"/>
          </a:xfrm>
          <a:prstGeom prst="rect">
            <a:avLst/>
          </a:prstGeom>
          <a:noFill/>
        </p:spPr>
        <p:txBody>
          <a:bodyPr wrap="square" anchor="ctr" lIns="45720" rIns="45720">
            <a:spAutoFit/>
          </a:bodyPr>
          <a:lstStyle/>
          <a:p>
            <a:r>
              <a:rPr sz="3400" b="1">
                <a:solidFill>
                  <a:srgbClr val="3B4021"/>
                </a:solidFill>
                <a:latin typeface="Arial"/>
              </a:rPr>
              <a:t>Vor allem fehlt: das Nachschlagen</a:t>
            </a:r>
          </a:p>
        </p:txBody>
      </p:sp>
      <p:pic>
        <p:nvPicPr>
          <p:cNvPr id="4" name="Picture 3" descr="nachschlagen.jpg"/>
          <p:cNvPicPr>
            <a:picLocks noChangeAspect="1"/>
          </p:cNvPicPr>
          <p:nvPr/>
        </p:nvPicPr>
        <p:blipFill>
          <a:blip r:embed="rId2"/>
          <a:stretch>
            <a:fillRect/>
          </a:stretch>
        </p:blipFill>
        <p:spPr>
          <a:xfrm>
            <a:off x="640079" y="2018211"/>
            <a:ext cx="6217920" cy="3553097"/>
          </a:xfrm>
          <a:prstGeom prst="rect">
            <a:avLst/>
          </a:prstGeom>
        </p:spPr>
      </p:pic>
      <p:sp>
        <p:nvSpPr>
          <p:cNvPr id="5" name="TextBox 4"/>
          <p:cNvSpPr txBox="1"/>
          <p:nvPr/>
        </p:nvSpPr>
        <p:spPr>
          <a:xfrm>
            <a:off x="7223760" y="1600200"/>
            <a:ext cx="4480560" cy="4480560"/>
          </a:xfrm>
          <a:prstGeom prst="rect">
            <a:avLst/>
          </a:prstGeom>
          <a:noFill/>
        </p:spPr>
        <p:txBody>
          <a:bodyPr wrap="square" anchor="ctr" lIns="45720" rIns="45720">
            <a:spAutoFit/>
          </a:bodyPr>
          <a:lstStyle/>
          <a:p>
            <a:pPr>
              <a:spcAft>
                <a:spcPts val="1000"/>
              </a:spcAft>
            </a:pPr>
            <a:r>
              <a:rPr sz="2300" b="0">
                <a:solidFill>
                  <a:srgbClr val="1D1D1D"/>
                </a:solidFill>
                <a:latin typeface="Arial"/>
              </a:rPr>
              <a:t>•  Wikipedia ist </a:t>
            </a:r>
            <a:r>
              <a:rPr sz="2300" b="1">
                <a:solidFill>
                  <a:srgbClr val="1D1D1D"/>
                </a:solidFill>
                <a:latin typeface="Arial"/>
              </a:rPr>
              <a:t>nicht erreichbar</a:t>
            </a:r>
          </a:p>
          <a:p>
            <a:pPr>
              <a:spcAft>
                <a:spcPts val="1000"/>
              </a:spcAft>
            </a:pPr>
            <a:r>
              <a:rPr sz="2300" b="0">
                <a:solidFill>
                  <a:srgbClr val="1D1D1D"/>
                </a:solidFill>
                <a:latin typeface="Arial"/>
              </a:rPr>
              <a:t>•  Keine Anleitung für Heizung und Herd</a:t>
            </a:r>
          </a:p>
          <a:p>
            <a:pPr>
              <a:spcAft>
                <a:spcPts val="1000"/>
              </a:spcAft>
            </a:pPr>
            <a:r>
              <a:rPr sz="2300" b="0">
                <a:solidFill>
                  <a:srgbClr val="1D1D1D"/>
                </a:solidFill>
                <a:latin typeface="Arial"/>
              </a:rPr>
              <a:t>•  Keine Hinweise zur Ersten Hilfe</a:t>
            </a:r>
          </a:p>
          <a:p>
            <a:pPr>
              <a:spcAft>
                <a:spcPts val="1000"/>
              </a:spcAft>
            </a:pPr>
            <a:r>
              <a:rPr sz="2300" b="0">
                <a:solidFill>
                  <a:srgbClr val="1D1D1D"/>
                </a:solidFill>
                <a:latin typeface="Arial"/>
              </a:rPr>
              <a:t>•  Keine Karte für die Umleitung</a:t>
            </a:r>
          </a:p>
        </p:txBody>
      </p:sp>
      <p:sp>
        <p:nvSpPr>
          <p:cNvPr id="6" name="TextBox 5"/>
          <p:cNvSpPr txBox="1"/>
          <p:nvPr/>
        </p:nvSpPr>
        <p:spPr>
          <a:xfrm>
            <a:off x="640080" y="6446520"/>
            <a:ext cx="8229600" cy="274320"/>
          </a:xfrm>
          <a:prstGeom prst="rect">
            <a:avLst/>
          </a:prstGeom>
          <a:noFill/>
        </p:spPr>
        <p:txBody>
          <a:bodyPr wrap="square" anchor="t" lIns="45720" rIns="45720">
            <a:spAutoFit/>
          </a:bodyPr>
          <a:lstStyle/>
          <a:p>
            <a:r>
              <a:rPr sz="1100" b="0">
                <a:solidFill>
                  <a:srgbClr val="555555"/>
                </a:solidFill>
                <a:latin typeface="Arial"/>
              </a:rPr>
              <a:t>NOMAD – deutsche Fassung (inoffiziell, Apache-2.0)</a:t>
            </a:r>
          </a:p>
        </p:txBody>
      </p:sp>
      <p:sp>
        <p:nvSpPr>
          <p:cNvPr id="7" name="TextBox 6"/>
          <p:cNvSpPr txBox="1"/>
          <p:nvPr/>
        </p:nvSpPr>
        <p:spPr>
          <a:xfrm>
            <a:off x="10881360" y="6446520"/>
            <a:ext cx="914400" cy="274320"/>
          </a:xfrm>
          <a:prstGeom prst="rect">
            <a:avLst/>
          </a:prstGeom>
          <a:noFill/>
        </p:spPr>
        <p:txBody>
          <a:bodyPr wrap="square" anchor="t" lIns="45720" rIns="45720">
            <a:spAutoFit/>
          </a:bodyPr>
          <a:lstStyle/>
          <a:p>
            <a:pPr algn="r"/>
            <a:r>
              <a:rPr sz="1100" b="0">
                <a:solidFill>
                  <a:srgbClr val="555555"/>
                </a:solidFill>
                <a:latin typeface="Aria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56032" cy="6858000"/>
          </a:xfrm>
          <a:prstGeom prst="rect">
            <a:avLst/>
          </a:prstGeom>
          <a:solidFill>
            <a:srgbClr val="3B4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972800" cy="914400"/>
          </a:xfrm>
          <a:prstGeom prst="rect">
            <a:avLst/>
          </a:prstGeom>
          <a:noFill/>
        </p:spPr>
        <p:txBody>
          <a:bodyPr wrap="square" anchor="ctr" lIns="45720" rIns="45720">
            <a:spAutoFit/>
          </a:bodyPr>
          <a:lstStyle/>
          <a:p>
            <a:r>
              <a:rPr sz="3400" b="1">
                <a:solidFill>
                  <a:srgbClr val="3B4021"/>
                </a:solidFill>
                <a:latin typeface="Arial"/>
              </a:rPr>
              <a:t>Und die Kinder und Enkel?</a:t>
            </a:r>
          </a:p>
        </p:txBody>
      </p:sp>
      <p:pic>
        <p:nvPicPr>
          <p:cNvPr id="4" name="Picture 3" descr="kinder.jpg"/>
          <p:cNvPicPr>
            <a:picLocks noChangeAspect="1"/>
          </p:cNvPicPr>
          <p:nvPr/>
        </p:nvPicPr>
        <p:blipFill>
          <a:blip r:embed="rId2"/>
          <a:stretch>
            <a:fillRect/>
          </a:stretch>
        </p:blipFill>
        <p:spPr>
          <a:xfrm>
            <a:off x="640079" y="2018211"/>
            <a:ext cx="6217920" cy="3553097"/>
          </a:xfrm>
          <a:prstGeom prst="rect">
            <a:avLst/>
          </a:prstGeom>
        </p:spPr>
      </p:pic>
      <p:sp>
        <p:nvSpPr>
          <p:cNvPr id="5" name="TextBox 4"/>
          <p:cNvSpPr txBox="1"/>
          <p:nvPr/>
        </p:nvSpPr>
        <p:spPr>
          <a:xfrm>
            <a:off x="7223760" y="1600200"/>
            <a:ext cx="4480560" cy="4480560"/>
          </a:xfrm>
          <a:prstGeom prst="rect">
            <a:avLst/>
          </a:prstGeom>
          <a:noFill/>
        </p:spPr>
        <p:txBody>
          <a:bodyPr wrap="square" anchor="ctr" lIns="45720" rIns="45720">
            <a:spAutoFit/>
          </a:bodyPr>
          <a:lstStyle/>
          <a:p>
            <a:pPr>
              <a:spcAft>
                <a:spcPts val="1000"/>
              </a:spcAft>
            </a:pPr>
            <a:r>
              <a:rPr sz="2300" b="0">
                <a:solidFill>
                  <a:srgbClr val="1D1D1D"/>
                </a:solidFill>
                <a:latin typeface="Arial"/>
              </a:rPr>
              <a:t>•  Filme und Spiele fallen weg</a:t>
            </a:r>
          </a:p>
          <a:p>
            <a:pPr>
              <a:spcAft>
                <a:spcPts val="1000"/>
              </a:spcAft>
            </a:pPr>
            <a:r>
              <a:rPr sz="2300" b="0">
                <a:solidFill>
                  <a:srgbClr val="1D1D1D"/>
                </a:solidFill>
                <a:latin typeface="Arial"/>
              </a:rPr>
              <a:t>•  Lernen und Üben geht nicht mehr</a:t>
            </a:r>
          </a:p>
          <a:p>
            <a:pPr>
              <a:spcAft>
                <a:spcPts val="1000"/>
              </a:spcAft>
            </a:pPr>
            <a:r>
              <a:rPr sz="2300" b="0">
                <a:solidFill>
                  <a:srgbClr val="1D1D1D"/>
                </a:solidFill>
                <a:latin typeface="Arial"/>
              </a:rPr>
              <a:t>•  Bücher und Brettspiele helfen</a:t>
            </a:r>
          </a:p>
          <a:p>
            <a:pPr>
              <a:spcAft>
                <a:spcPts val="1000"/>
              </a:spcAft>
            </a:pPr>
            <a:r>
              <a:rPr sz="2300" b="0">
                <a:solidFill>
                  <a:srgbClr val="1D1D1D"/>
                </a:solidFill>
                <a:latin typeface="Arial"/>
              </a:rPr>
              <a:t>•  Wissen zum Anfassen, auch ohne Bildschirm</a:t>
            </a:r>
          </a:p>
        </p:txBody>
      </p:sp>
      <p:sp>
        <p:nvSpPr>
          <p:cNvPr id="6" name="TextBox 5"/>
          <p:cNvSpPr txBox="1"/>
          <p:nvPr/>
        </p:nvSpPr>
        <p:spPr>
          <a:xfrm>
            <a:off x="640080" y="6446520"/>
            <a:ext cx="8229600" cy="274320"/>
          </a:xfrm>
          <a:prstGeom prst="rect">
            <a:avLst/>
          </a:prstGeom>
          <a:noFill/>
        </p:spPr>
        <p:txBody>
          <a:bodyPr wrap="square" anchor="t" lIns="45720" rIns="45720">
            <a:spAutoFit/>
          </a:bodyPr>
          <a:lstStyle/>
          <a:p>
            <a:r>
              <a:rPr sz="1100" b="0">
                <a:solidFill>
                  <a:srgbClr val="555555"/>
                </a:solidFill>
                <a:latin typeface="Arial"/>
              </a:rPr>
              <a:t>NOMAD – deutsche Fassung (inoffiziell, Apache-2.0)</a:t>
            </a:r>
          </a:p>
        </p:txBody>
      </p:sp>
      <p:sp>
        <p:nvSpPr>
          <p:cNvPr id="7" name="TextBox 6"/>
          <p:cNvSpPr txBox="1"/>
          <p:nvPr/>
        </p:nvSpPr>
        <p:spPr>
          <a:xfrm>
            <a:off x="10881360" y="6446520"/>
            <a:ext cx="914400" cy="274320"/>
          </a:xfrm>
          <a:prstGeom prst="rect">
            <a:avLst/>
          </a:prstGeom>
          <a:noFill/>
        </p:spPr>
        <p:txBody>
          <a:bodyPr wrap="square" anchor="t" lIns="45720" rIns="45720">
            <a:spAutoFit/>
          </a:bodyPr>
          <a:lstStyle/>
          <a:p>
            <a:pPr algn="r"/>
            <a:r>
              <a:rPr sz="1100" b="0">
                <a:solidFill>
                  <a:srgbClr val="555555"/>
                </a:solidFill>
                <a:latin typeface="Aria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56032" cy="6858000"/>
          </a:xfrm>
          <a:prstGeom prst="rect">
            <a:avLst/>
          </a:prstGeom>
          <a:solidFill>
            <a:srgbClr val="3B4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972800" cy="914400"/>
          </a:xfrm>
          <a:prstGeom prst="rect">
            <a:avLst/>
          </a:prstGeom>
          <a:noFill/>
        </p:spPr>
        <p:txBody>
          <a:bodyPr wrap="square" anchor="ctr" lIns="45720" rIns="45720">
            <a:spAutoFit/>
          </a:bodyPr>
          <a:lstStyle/>
          <a:p>
            <a:r>
              <a:rPr sz="3400" b="1">
                <a:solidFill>
                  <a:srgbClr val="3B4021"/>
                </a:solidFill>
                <a:latin typeface="Arial"/>
              </a:rPr>
              <a:t>Die Idee: Wissen ins Haus holen</a:t>
            </a:r>
          </a:p>
        </p:txBody>
      </p:sp>
      <p:pic>
        <p:nvPicPr>
          <p:cNvPr id="4" name="Picture 3" descr="idee.jpg"/>
          <p:cNvPicPr>
            <a:picLocks noChangeAspect="1"/>
          </p:cNvPicPr>
          <p:nvPr/>
        </p:nvPicPr>
        <p:blipFill>
          <a:blip r:embed="rId2"/>
          <a:stretch>
            <a:fillRect/>
          </a:stretch>
        </p:blipFill>
        <p:spPr>
          <a:xfrm>
            <a:off x="640079" y="2018211"/>
            <a:ext cx="6217920" cy="3553097"/>
          </a:xfrm>
          <a:prstGeom prst="rect">
            <a:avLst/>
          </a:prstGeom>
        </p:spPr>
      </p:pic>
      <p:sp>
        <p:nvSpPr>
          <p:cNvPr id="5" name="TextBox 4"/>
          <p:cNvSpPr txBox="1"/>
          <p:nvPr/>
        </p:nvSpPr>
        <p:spPr>
          <a:xfrm>
            <a:off x="7223760" y="1600200"/>
            <a:ext cx="4480560" cy="4480560"/>
          </a:xfrm>
          <a:prstGeom prst="rect">
            <a:avLst/>
          </a:prstGeom>
          <a:noFill/>
        </p:spPr>
        <p:txBody>
          <a:bodyPr wrap="square" anchor="ctr" lIns="45720" rIns="45720">
            <a:spAutoFit/>
          </a:bodyPr>
          <a:lstStyle/>
          <a:p>
            <a:pPr>
              <a:spcAft>
                <a:spcPts val="1000"/>
              </a:spcAft>
            </a:pPr>
            <a:r>
              <a:rPr sz="2300" b="0">
                <a:solidFill>
                  <a:srgbClr val="1D1D1D"/>
                </a:solidFill>
                <a:latin typeface="Arial"/>
              </a:rPr>
              <a:t>•  NOMAD holt das Wissen </a:t>
            </a:r>
            <a:r>
              <a:rPr sz="2300" b="1">
                <a:solidFill>
                  <a:srgbClr val="1D1D1D"/>
                </a:solidFill>
                <a:latin typeface="Arial"/>
              </a:rPr>
              <a:t>zu Ihnen</a:t>
            </a:r>
          </a:p>
          <a:p>
            <a:pPr>
              <a:spcAft>
                <a:spcPts val="1000"/>
              </a:spcAft>
            </a:pPr>
            <a:r>
              <a:rPr sz="2300" b="0">
                <a:solidFill>
                  <a:srgbClr val="1D1D1D"/>
                </a:solidFill>
                <a:latin typeface="Arial"/>
              </a:rPr>
              <a:t>•  Es läuft auf einem Rechner bei Ihnen</a:t>
            </a:r>
          </a:p>
          <a:p>
            <a:pPr>
              <a:spcAft>
                <a:spcPts val="1000"/>
              </a:spcAft>
            </a:pPr>
            <a:r>
              <a:rPr sz="2300" b="0">
                <a:solidFill>
                  <a:srgbClr val="1D1D1D"/>
                </a:solidFill>
                <a:latin typeface="Arial"/>
              </a:rPr>
              <a:t>•  Einmal einrichten, einmal laden</a:t>
            </a:r>
          </a:p>
          <a:p>
            <a:pPr>
              <a:spcAft>
                <a:spcPts val="1000"/>
              </a:spcAft>
            </a:pPr>
            <a:r>
              <a:rPr sz="2300" b="0">
                <a:solidFill>
                  <a:srgbClr val="1D1D1D"/>
                </a:solidFill>
                <a:latin typeface="Arial"/>
              </a:rPr>
              <a:t>•  Danach ganz </a:t>
            </a:r>
            <a:r>
              <a:rPr sz="2300" b="1">
                <a:solidFill>
                  <a:srgbClr val="1D1D1D"/>
                </a:solidFill>
                <a:latin typeface="Arial"/>
              </a:rPr>
              <a:t>ohne Internet</a:t>
            </a:r>
          </a:p>
        </p:txBody>
      </p:sp>
      <p:sp>
        <p:nvSpPr>
          <p:cNvPr id="6" name="TextBox 5"/>
          <p:cNvSpPr txBox="1"/>
          <p:nvPr/>
        </p:nvSpPr>
        <p:spPr>
          <a:xfrm>
            <a:off x="640080" y="6446520"/>
            <a:ext cx="8229600" cy="274320"/>
          </a:xfrm>
          <a:prstGeom prst="rect">
            <a:avLst/>
          </a:prstGeom>
          <a:noFill/>
        </p:spPr>
        <p:txBody>
          <a:bodyPr wrap="square" anchor="t" lIns="45720" rIns="45720">
            <a:spAutoFit/>
          </a:bodyPr>
          <a:lstStyle/>
          <a:p>
            <a:r>
              <a:rPr sz="1100" b="0">
                <a:solidFill>
                  <a:srgbClr val="555555"/>
                </a:solidFill>
                <a:latin typeface="Arial"/>
              </a:rPr>
              <a:t>NOMAD – deutsche Fassung (inoffiziell, Apache-2.0)</a:t>
            </a:r>
          </a:p>
        </p:txBody>
      </p:sp>
      <p:sp>
        <p:nvSpPr>
          <p:cNvPr id="7" name="TextBox 6"/>
          <p:cNvSpPr txBox="1"/>
          <p:nvPr/>
        </p:nvSpPr>
        <p:spPr>
          <a:xfrm>
            <a:off x="10881360" y="6446520"/>
            <a:ext cx="914400" cy="274320"/>
          </a:xfrm>
          <a:prstGeom prst="rect">
            <a:avLst/>
          </a:prstGeom>
          <a:noFill/>
        </p:spPr>
        <p:txBody>
          <a:bodyPr wrap="square" anchor="t" lIns="45720" rIns="45720">
            <a:spAutoFit/>
          </a:bodyPr>
          <a:lstStyle/>
          <a:p>
            <a:pPr algn="r"/>
            <a:r>
              <a:rPr sz="1100" b="0">
                <a:solidFill>
                  <a:srgbClr val="555555"/>
                </a:solidFill>
                <a:latin typeface="Aria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56032" cy="6858000"/>
          </a:xfrm>
          <a:prstGeom prst="rect">
            <a:avLst/>
          </a:prstGeom>
          <a:solidFill>
            <a:srgbClr val="3B4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972800" cy="914400"/>
          </a:xfrm>
          <a:prstGeom prst="rect">
            <a:avLst/>
          </a:prstGeom>
          <a:noFill/>
        </p:spPr>
        <p:txBody>
          <a:bodyPr wrap="square" anchor="ctr" lIns="45720" rIns="45720">
            <a:spAutoFit/>
          </a:bodyPr>
          <a:lstStyle/>
          <a:p>
            <a:r>
              <a:rPr sz="3400" b="1">
                <a:solidFill>
                  <a:srgbClr val="3B4021"/>
                </a:solidFill>
                <a:latin typeface="Arial"/>
              </a:rPr>
              <a:t>Drei Wörter, einfach erklärt</a:t>
            </a:r>
          </a:p>
        </p:txBody>
      </p:sp>
      <p:sp>
        <p:nvSpPr>
          <p:cNvPr id="4" name="Rounded Rectangle 3"/>
          <p:cNvSpPr/>
          <p:nvPr/>
        </p:nvSpPr>
        <p:spPr>
          <a:xfrm>
            <a:off x="640080" y="1737360"/>
            <a:ext cx="3566160" cy="3840480"/>
          </a:xfrm>
          <a:prstGeom prst="roundRect">
            <a:avLst>
              <a:gd name="adj" fmla="val 5000"/>
            </a:avLst>
          </a:prstGeom>
          <a:solidFill>
            <a:srgbClr val="F4EDD8"/>
          </a:solidFill>
          <a:ln w="25400">
            <a:solidFill>
              <a:srgbClr val="3B40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59" y="1920240"/>
            <a:ext cx="3200400" cy="731520"/>
          </a:xfrm>
          <a:prstGeom prst="rect">
            <a:avLst/>
          </a:prstGeom>
          <a:noFill/>
        </p:spPr>
        <p:txBody>
          <a:bodyPr wrap="square" anchor="t" lIns="45720" rIns="45720">
            <a:spAutoFit/>
          </a:bodyPr>
          <a:lstStyle/>
          <a:p>
            <a:r>
              <a:rPr sz="2800" b="1">
                <a:solidFill>
                  <a:srgbClr val="3B4021"/>
                </a:solidFill>
                <a:latin typeface="Arial"/>
              </a:rPr>
              <a:t>Ein Server</a:t>
            </a:r>
          </a:p>
        </p:txBody>
      </p:sp>
      <p:sp>
        <p:nvSpPr>
          <p:cNvPr id="6" name="TextBox 5"/>
          <p:cNvSpPr txBox="1"/>
          <p:nvPr/>
        </p:nvSpPr>
        <p:spPr>
          <a:xfrm>
            <a:off x="822959" y="2743200"/>
            <a:ext cx="3200400" cy="2743200"/>
          </a:xfrm>
          <a:prstGeom prst="rect">
            <a:avLst/>
          </a:prstGeom>
          <a:noFill/>
        </p:spPr>
        <p:txBody>
          <a:bodyPr wrap="square" anchor="t" lIns="45720" rIns="45720">
            <a:spAutoFit/>
          </a:bodyPr>
          <a:lstStyle/>
          <a:p>
            <a:pPr>
              <a:spcAft>
                <a:spcPts val="1000"/>
              </a:spcAft>
            </a:pPr>
            <a:r>
              <a:rPr sz="2000" b="0">
                <a:solidFill>
                  <a:srgbClr val="1D1D1D"/>
                </a:solidFill>
                <a:latin typeface="Arial"/>
              </a:rPr>
              <a:t>•  Ein Computer, der anderen etwas gibt</a:t>
            </a:r>
          </a:p>
          <a:p>
            <a:pPr>
              <a:spcAft>
                <a:spcPts val="1000"/>
              </a:spcAft>
            </a:pPr>
            <a:r>
              <a:rPr sz="2000" b="0">
                <a:solidFill>
                  <a:srgbClr val="1D1D1D"/>
                </a:solidFill>
                <a:latin typeface="Arial"/>
              </a:rPr>
              <a:t>•  Er steht bei Ihnen im Regal</a:t>
            </a:r>
          </a:p>
        </p:txBody>
      </p:sp>
      <p:sp>
        <p:nvSpPr>
          <p:cNvPr id="7" name="Rounded Rectangle 6"/>
          <p:cNvSpPr/>
          <p:nvPr/>
        </p:nvSpPr>
        <p:spPr>
          <a:xfrm>
            <a:off x="4434840" y="1737360"/>
            <a:ext cx="3566160" cy="3840480"/>
          </a:xfrm>
          <a:prstGeom prst="roundRect">
            <a:avLst>
              <a:gd name="adj" fmla="val 5000"/>
            </a:avLst>
          </a:prstGeom>
          <a:solidFill>
            <a:srgbClr val="F4EDD8"/>
          </a:solidFill>
          <a:ln w="25400">
            <a:solidFill>
              <a:srgbClr val="3B40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17720" y="1920240"/>
            <a:ext cx="3200400" cy="731520"/>
          </a:xfrm>
          <a:prstGeom prst="rect">
            <a:avLst/>
          </a:prstGeom>
          <a:noFill/>
        </p:spPr>
        <p:txBody>
          <a:bodyPr wrap="square" anchor="t" lIns="45720" rIns="45720">
            <a:spAutoFit/>
          </a:bodyPr>
          <a:lstStyle/>
          <a:p>
            <a:r>
              <a:rPr sz="2800" b="1">
                <a:solidFill>
                  <a:srgbClr val="3B4021"/>
                </a:solidFill>
                <a:latin typeface="Arial"/>
              </a:rPr>
              <a:t>Offline</a:t>
            </a:r>
          </a:p>
        </p:txBody>
      </p:sp>
      <p:sp>
        <p:nvSpPr>
          <p:cNvPr id="9" name="TextBox 8"/>
          <p:cNvSpPr txBox="1"/>
          <p:nvPr/>
        </p:nvSpPr>
        <p:spPr>
          <a:xfrm>
            <a:off x="4617720" y="2743200"/>
            <a:ext cx="3200400" cy="2743200"/>
          </a:xfrm>
          <a:prstGeom prst="rect">
            <a:avLst/>
          </a:prstGeom>
          <a:noFill/>
        </p:spPr>
        <p:txBody>
          <a:bodyPr wrap="square" anchor="t" lIns="45720" rIns="45720">
            <a:spAutoFit/>
          </a:bodyPr>
          <a:lstStyle/>
          <a:p>
            <a:pPr>
              <a:spcAft>
                <a:spcPts val="1000"/>
              </a:spcAft>
            </a:pPr>
            <a:r>
              <a:rPr sz="2000" b="0">
                <a:solidFill>
                  <a:srgbClr val="1D1D1D"/>
                </a:solidFill>
                <a:latin typeface="Arial"/>
              </a:rPr>
              <a:t>•  Ohne Internet, ohne Netz</a:t>
            </a:r>
          </a:p>
          <a:p>
            <a:pPr>
              <a:spcAft>
                <a:spcPts val="1000"/>
              </a:spcAft>
            </a:pPr>
            <a:r>
              <a:rPr sz="2000" b="0">
                <a:solidFill>
                  <a:srgbClr val="1D1D1D"/>
                </a:solidFill>
                <a:latin typeface="Arial"/>
              </a:rPr>
              <a:t>•  Alles ist schon im Haus</a:t>
            </a:r>
          </a:p>
        </p:txBody>
      </p:sp>
      <p:sp>
        <p:nvSpPr>
          <p:cNvPr id="10" name="Rounded Rectangle 9"/>
          <p:cNvSpPr/>
          <p:nvPr/>
        </p:nvSpPr>
        <p:spPr>
          <a:xfrm>
            <a:off x="8229600" y="1737360"/>
            <a:ext cx="3566160" cy="3840480"/>
          </a:xfrm>
          <a:prstGeom prst="roundRect">
            <a:avLst>
              <a:gd name="adj" fmla="val 5000"/>
            </a:avLst>
          </a:prstGeom>
          <a:solidFill>
            <a:srgbClr val="F4EDD8"/>
          </a:solidFill>
          <a:ln w="25400">
            <a:solidFill>
              <a:srgbClr val="3B40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0" y="1920240"/>
            <a:ext cx="3200400" cy="731520"/>
          </a:xfrm>
          <a:prstGeom prst="rect">
            <a:avLst/>
          </a:prstGeom>
          <a:noFill/>
        </p:spPr>
        <p:txBody>
          <a:bodyPr wrap="square" anchor="t" lIns="45720" rIns="45720">
            <a:spAutoFit/>
          </a:bodyPr>
          <a:lstStyle/>
          <a:p>
            <a:r>
              <a:rPr sz="2800" b="1">
                <a:solidFill>
                  <a:srgbClr val="3B4021"/>
                </a:solidFill>
                <a:latin typeface="Arial"/>
              </a:rPr>
              <a:t>Der Browser</a:t>
            </a:r>
          </a:p>
        </p:txBody>
      </p:sp>
      <p:sp>
        <p:nvSpPr>
          <p:cNvPr id="12" name="TextBox 11"/>
          <p:cNvSpPr txBox="1"/>
          <p:nvPr/>
        </p:nvSpPr>
        <p:spPr>
          <a:xfrm>
            <a:off x="8412480" y="2743200"/>
            <a:ext cx="3200400" cy="2743200"/>
          </a:xfrm>
          <a:prstGeom prst="rect">
            <a:avLst/>
          </a:prstGeom>
          <a:noFill/>
        </p:spPr>
        <p:txBody>
          <a:bodyPr wrap="square" anchor="t" lIns="45720" rIns="45720">
            <a:spAutoFit/>
          </a:bodyPr>
          <a:lstStyle/>
          <a:p>
            <a:pPr>
              <a:spcAft>
                <a:spcPts val="1000"/>
              </a:spcAft>
            </a:pPr>
            <a:r>
              <a:rPr sz="2000" b="0">
                <a:solidFill>
                  <a:srgbClr val="1D1D1D"/>
                </a:solidFill>
                <a:latin typeface="Arial"/>
              </a:rPr>
              <a:t>•  Das Fenster, in dem Sie schauen</a:t>
            </a:r>
          </a:p>
          <a:p>
            <a:pPr>
              <a:spcAft>
                <a:spcPts val="1000"/>
              </a:spcAft>
            </a:pPr>
            <a:r>
              <a:rPr sz="2000" b="0">
                <a:solidFill>
                  <a:srgbClr val="1D1D1D"/>
                </a:solidFill>
                <a:latin typeface="Arial"/>
              </a:rPr>
              <a:t>•  NOMAD öffnen Sie wie eine Internetseite</a:t>
            </a:r>
          </a:p>
        </p:txBody>
      </p:sp>
      <p:sp>
        <p:nvSpPr>
          <p:cNvPr id="13" name="TextBox 12"/>
          <p:cNvSpPr txBox="1"/>
          <p:nvPr/>
        </p:nvSpPr>
        <p:spPr>
          <a:xfrm>
            <a:off x="640080" y="6446520"/>
            <a:ext cx="8229600" cy="274320"/>
          </a:xfrm>
          <a:prstGeom prst="rect">
            <a:avLst/>
          </a:prstGeom>
          <a:noFill/>
        </p:spPr>
        <p:txBody>
          <a:bodyPr wrap="square" anchor="t" lIns="45720" rIns="45720">
            <a:spAutoFit/>
          </a:bodyPr>
          <a:lstStyle/>
          <a:p>
            <a:r>
              <a:rPr sz="1100" b="0">
                <a:solidFill>
                  <a:srgbClr val="555555"/>
                </a:solidFill>
                <a:latin typeface="Arial"/>
              </a:rPr>
              <a:t>NOMAD – deutsche Fassung (inoffiziell, Apache-2.0)</a:t>
            </a:r>
          </a:p>
        </p:txBody>
      </p:sp>
      <p:sp>
        <p:nvSpPr>
          <p:cNvPr id="14" name="TextBox 13"/>
          <p:cNvSpPr txBox="1"/>
          <p:nvPr/>
        </p:nvSpPr>
        <p:spPr>
          <a:xfrm>
            <a:off x="10881360" y="6446520"/>
            <a:ext cx="914400" cy="274320"/>
          </a:xfrm>
          <a:prstGeom prst="rect">
            <a:avLst/>
          </a:prstGeom>
          <a:noFill/>
        </p:spPr>
        <p:txBody>
          <a:bodyPr wrap="square" anchor="t" lIns="45720" rIns="45720">
            <a:spAutoFit/>
          </a:bodyPr>
          <a:lstStyle/>
          <a:p>
            <a:pPr algn="r"/>
            <a:r>
              <a:rPr sz="1100" b="0">
                <a:solidFill>
                  <a:srgbClr val="555555"/>
                </a:solidFill>
                <a:latin typeface="Arial"/>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56032" cy="6858000"/>
          </a:xfrm>
          <a:prstGeom prst="rect">
            <a:avLst/>
          </a:prstGeom>
          <a:solidFill>
            <a:srgbClr val="3B4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972800" cy="914400"/>
          </a:xfrm>
          <a:prstGeom prst="rect">
            <a:avLst/>
          </a:prstGeom>
          <a:noFill/>
        </p:spPr>
        <p:txBody>
          <a:bodyPr wrap="square" anchor="ctr" lIns="45720" rIns="45720">
            <a:spAutoFit/>
          </a:bodyPr>
          <a:lstStyle/>
          <a:p>
            <a:r>
              <a:rPr sz="3400" b="1">
                <a:solidFill>
                  <a:srgbClr val="3B4021"/>
                </a:solidFill>
                <a:latin typeface="Arial"/>
              </a:rPr>
              <a:t>So sieht NOMAD aus: die Kommandozentrale</a:t>
            </a:r>
          </a:p>
        </p:txBody>
      </p:sp>
      <p:pic>
        <p:nvPicPr>
          <p:cNvPr id="4" name="Picture 3" descr="dashboard-de.png"/>
          <p:cNvPicPr>
            <a:picLocks noChangeAspect="1"/>
          </p:cNvPicPr>
          <p:nvPr/>
        </p:nvPicPr>
        <p:blipFill>
          <a:blip r:embed="rId2"/>
          <a:stretch>
            <a:fillRect/>
          </a:stretch>
        </p:blipFill>
        <p:spPr>
          <a:xfrm>
            <a:off x="949594" y="1280159"/>
            <a:ext cx="10262330" cy="4754880"/>
          </a:xfrm>
          <a:prstGeom prst="rect">
            <a:avLst/>
          </a:prstGeom>
          <a:ln w="12700">
            <a:solidFill>
              <a:srgbClr val="BBBBBB"/>
            </a:solidFill>
          </a:ln>
        </p:spPr>
      </p:pic>
      <p:sp>
        <p:nvSpPr>
          <p:cNvPr id="5" name="TextBox 4"/>
          <p:cNvSpPr txBox="1"/>
          <p:nvPr/>
        </p:nvSpPr>
        <p:spPr>
          <a:xfrm>
            <a:off x="822960" y="5989320"/>
            <a:ext cx="10515600" cy="457200"/>
          </a:xfrm>
          <a:prstGeom prst="rect">
            <a:avLst/>
          </a:prstGeom>
          <a:noFill/>
        </p:spPr>
        <p:txBody>
          <a:bodyPr wrap="square" anchor="t" lIns="45720" rIns="45720">
            <a:spAutoFit/>
          </a:bodyPr>
          <a:lstStyle/>
          <a:p>
            <a:pPr algn="ctr"/>
            <a:r>
              <a:rPr sz="1800" b="0">
                <a:solidFill>
                  <a:srgbClr val="555555"/>
                </a:solidFill>
                <a:latin typeface="Arial"/>
              </a:rPr>
              <a:t>Die Startseite: Karten, Schnellstart, Supply Depot, Docs, Einstellungen</a:t>
            </a:r>
          </a:p>
        </p:txBody>
      </p:sp>
      <p:sp>
        <p:nvSpPr>
          <p:cNvPr id="6" name="TextBox 5"/>
          <p:cNvSpPr txBox="1"/>
          <p:nvPr/>
        </p:nvSpPr>
        <p:spPr>
          <a:xfrm>
            <a:off x="640080" y="6446520"/>
            <a:ext cx="8229600" cy="274320"/>
          </a:xfrm>
          <a:prstGeom prst="rect">
            <a:avLst/>
          </a:prstGeom>
          <a:noFill/>
        </p:spPr>
        <p:txBody>
          <a:bodyPr wrap="square" anchor="t" lIns="45720" rIns="45720">
            <a:spAutoFit/>
          </a:bodyPr>
          <a:lstStyle/>
          <a:p>
            <a:r>
              <a:rPr sz="1100" b="0">
                <a:solidFill>
                  <a:srgbClr val="555555"/>
                </a:solidFill>
                <a:latin typeface="Arial"/>
              </a:rPr>
              <a:t>NOMAD – deutsche Fassung (inoffiziell, Apache-2.0)</a:t>
            </a:r>
          </a:p>
        </p:txBody>
      </p:sp>
      <p:sp>
        <p:nvSpPr>
          <p:cNvPr id="7" name="TextBox 6"/>
          <p:cNvSpPr txBox="1"/>
          <p:nvPr/>
        </p:nvSpPr>
        <p:spPr>
          <a:xfrm>
            <a:off x="10881360" y="6446520"/>
            <a:ext cx="914400" cy="274320"/>
          </a:xfrm>
          <a:prstGeom prst="rect">
            <a:avLst/>
          </a:prstGeom>
          <a:noFill/>
        </p:spPr>
        <p:txBody>
          <a:bodyPr wrap="square" anchor="t" lIns="45720" rIns="45720">
            <a:spAutoFit/>
          </a:bodyPr>
          <a:lstStyle/>
          <a:p>
            <a:pPr algn="r"/>
            <a:r>
              <a:rPr sz="1100" b="0">
                <a:solidFill>
                  <a:srgbClr val="555555"/>
                </a:solidFill>
                <a:latin typeface="Arial"/>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56032" cy="6858000"/>
          </a:xfrm>
          <a:prstGeom prst="rect">
            <a:avLst/>
          </a:prstGeom>
          <a:solidFill>
            <a:srgbClr val="3B4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972800" cy="914400"/>
          </a:xfrm>
          <a:prstGeom prst="rect">
            <a:avLst/>
          </a:prstGeom>
          <a:noFill/>
        </p:spPr>
        <p:txBody>
          <a:bodyPr wrap="square" anchor="ctr" lIns="45720" rIns="45720">
            <a:spAutoFit/>
          </a:bodyPr>
          <a:lstStyle/>
          <a:p>
            <a:r>
              <a:rPr sz="3400" b="1">
                <a:solidFill>
                  <a:srgbClr val="3B4021"/>
                </a:solidFill>
                <a:latin typeface="Arial"/>
              </a:rPr>
              <a:t>Was drinsteckt</a:t>
            </a:r>
          </a:p>
        </p:txBody>
      </p:sp>
      <p:pic>
        <p:nvPicPr>
          <p:cNvPr id="4" name="Picture 3" descr="bibliothek.jpg"/>
          <p:cNvPicPr>
            <a:picLocks noChangeAspect="1"/>
          </p:cNvPicPr>
          <p:nvPr/>
        </p:nvPicPr>
        <p:blipFill>
          <a:blip r:embed="rId2"/>
          <a:stretch>
            <a:fillRect/>
          </a:stretch>
        </p:blipFill>
        <p:spPr>
          <a:xfrm>
            <a:off x="640079" y="2018211"/>
            <a:ext cx="6217920" cy="3553097"/>
          </a:xfrm>
          <a:prstGeom prst="rect">
            <a:avLst/>
          </a:prstGeom>
        </p:spPr>
      </p:pic>
      <p:sp>
        <p:nvSpPr>
          <p:cNvPr id="5" name="TextBox 4"/>
          <p:cNvSpPr txBox="1"/>
          <p:nvPr/>
        </p:nvSpPr>
        <p:spPr>
          <a:xfrm>
            <a:off x="7223760" y="1600200"/>
            <a:ext cx="4480560" cy="4480560"/>
          </a:xfrm>
          <a:prstGeom prst="rect">
            <a:avLst/>
          </a:prstGeom>
          <a:noFill/>
        </p:spPr>
        <p:txBody>
          <a:bodyPr wrap="square" anchor="ctr" lIns="45720" rIns="45720">
            <a:spAutoFit/>
          </a:bodyPr>
          <a:lstStyle/>
          <a:p>
            <a:pPr>
              <a:spcAft>
                <a:spcPts val="1000"/>
              </a:spcAft>
            </a:pPr>
            <a:r>
              <a:rPr sz="2100" b="0">
                <a:solidFill>
                  <a:srgbClr val="1D1D1D"/>
                </a:solidFill>
                <a:latin typeface="Arial"/>
              </a:rPr>
              <a:t>•  </a:t>
            </a:r>
            <a:r>
              <a:rPr sz="2100" b="1">
                <a:solidFill>
                  <a:srgbClr val="1D1D1D"/>
                </a:solidFill>
                <a:latin typeface="Arial"/>
              </a:rPr>
              <a:t>Wikipedia</a:t>
            </a:r>
            <a:r>
              <a:rPr sz="2100" b="0">
                <a:solidFill>
                  <a:srgbClr val="1D1D1D"/>
                </a:solidFill>
                <a:latin typeface="Arial"/>
              </a:rPr>
              <a:t> (deutsch und englisch) und Nachschlagewerke</a:t>
            </a:r>
          </a:p>
          <a:p>
            <a:pPr>
              <a:spcAft>
                <a:spcPts val="1000"/>
              </a:spcAft>
            </a:pPr>
            <a:r>
              <a:rPr sz="2100" b="0">
                <a:solidFill>
                  <a:srgbClr val="1D1D1D"/>
                </a:solidFill>
                <a:latin typeface="Arial"/>
              </a:rPr>
              <a:t>•  </a:t>
            </a:r>
            <a:r>
              <a:rPr sz="2100" b="1">
                <a:solidFill>
                  <a:srgbClr val="1D1D1D"/>
                </a:solidFill>
                <a:latin typeface="Arial"/>
              </a:rPr>
              <a:t>Karten</a:t>
            </a:r>
            <a:r>
              <a:rPr sz="2100" b="0">
                <a:solidFill>
                  <a:srgbClr val="1D1D1D"/>
                </a:solidFill>
                <a:latin typeface="Arial"/>
              </a:rPr>
              <a:t>: ganze Länder, auch Deutschland</a:t>
            </a:r>
          </a:p>
          <a:p>
            <a:pPr>
              <a:spcAft>
                <a:spcPts val="1000"/>
              </a:spcAft>
            </a:pPr>
            <a:r>
              <a:rPr sz="2100" b="0">
                <a:solidFill>
                  <a:srgbClr val="1D1D1D"/>
                </a:solidFill>
                <a:latin typeface="Arial"/>
              </a:rPr>
              <a:t>•  Lernen und Üben</a:t>
            </a:r>
          </a:p>
          <a:p>
            <a:pPr>
              <a:spcAft>
                <a:spcPts val="1000"/>
              </a:spcAft>
            </a:pPr>
            <a:r>
              <a:rPr sz="2100" b="0">
                <a:solidFill>
                  <a:srgbClr val="1D1D1D"/>
                </a:solidFill>
                <a:latin typeface="Arial"/>
              </a:rPr>
              <a:t>•  Ein </a:t>
            </a:r>
            <a:r>
              <a:rPr sz="2100" b="1">
                <a:solidFill>
                  <a:srgbClr val="1D1D1D"/>
                </a:solidFill>
                <a:latin typeface="Arial"/>
              </a:rPr>
              <a:t>Chat mit lokaler KI</a:t>
            </a:r>
          </a:p>
          <a:p>
            <a:pPr>
              <a:spcAft>
                <a:spcPts val="1000"/>
              </a:spcAft>
            </a:pPr>
            <a:r>
              <a:rPr sz="2100" b="0">
                <a:solidFill>
                  <a:srgbClr val="1D1D1D"/>
                </a:solidFill>
                <a:latin typeface="Arial"/>
              </a:rPr>
              <a:t>•  Ihre </a:t>
            </a:r>
            <a:r>
              <a:rPr sz="2100" b="1">
                <a:solidFill>
                  <a:srgbClr val="1D1D1D"/>
                </a:solidFill>
                <a:latin typeface="Arial"/>
              </a:rPr>
              <a:t>eigenen Dokumente</a:t>
            </a:r>
          </a:p>
        </p:txBody>
      </p:sp>
      <p:sp>
        <p:nvSpPr>
          <p:cNvPr id="6" name="TextBox 5"/>
          <p:cNvSpPr txBox="1"/>
          <p:nvPr/>
        </p:nvSpPr>
        <p:spPr>
          <a:xfrm>
            <a:off x="640080" y="6446520"/>
            <a:ext cx="8229600" cy="274320"/>
          </a:xfrm>
          <a:prstGeom prst="rect">
            <a:avLst/>
          </a:prstGeom>
          <a:noFill/>
        </p:spPr>
        <p:txBody>
          <a:bodyPr wrap="square" anchor="t" lIns="45720" rIns="45720">
            <a:spAutoFit/>
          </a:bodyPr>
          <a:lstStyle/>
          <a:p>
            <a:r>
              <a:rPr sz="1100" b="0">
                <a:solidFill>
                  <a:srgbClr val="555555"/>
                </a:solidFill>
                <a:latin typeface="Arial"/>
              </a:rPr>
              <a:t>NOMAD – deutsche Fassung (inoffiziell, Apache-2.0)</a:t>
            </a:r>
          </a:p>
        </p:txBody>
      </p:sp>
      <p:sp>
        <p:nvSpPr>
          <p:cNvPr id="7" name="TextBox 6"/>
          <p:cNvSpPr txBox="1"/>
          <p:nvPr/>
        </p:nvSpPr>
        <p:spPr>
          <a:xfrm>
            <a:off x="10881360" y="6446520"/>
            <a:ext cx="914400" cy="274320"/>
          </a:xfrm>
          <a:prstGeom prst="rect">
            <a:avLst/>
          </a:prstGeom>
          <a:noFill/>
        </p:spPr>
        <p:txBody>
          <a:bodyPr wrap="square" anchor="t" lIns="45720" rIns="45720">
            <a:spAutoFit/>
          </a:bodyPr>
          <a:lstStyle/>
          <a:p>
            <a:pPr algn="r"/>
            <a:r>
              <a:rPr sz="1100" b="0">
                <a:solidFill>
                  <a:srgbClr val="555555"/>
                </a:solidFill>
                <a:latin typeface="Arial"/>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56032" cy="6858000"/>
          </a:xfrm>
          <a:prstGeom prst="rect">
            <a:avLst/>
          </a:prstGeom>
          <a:solidFill>
            <a:srgbClr val="3B4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972800" cy="914400"/>
          </a:xfrm>
          <a:prstGeom prst="rect">
            <a:avLst/>
          </a:prstGeom>
          <a:noFill/>
        </p:spPr>
        <p:txBody>
          <a:bodyPr wrap="square" anchor="ctr" lIns="45720" rIns="45720">
            <a:spAutoFit/>
          </a:bodyPr>
          <a:lstStyle/>
          <a:p>
            <a:r>
              <a:rPr sz="3400" b="1">
                <a:solidFill>
                  <a:srgbClr val="3B4021"/>
                </a:solidFill>
                <a:latin typeface="Arial"/>
              </a:rPr>
              <a:t>Weg 1: Die USB-SSD (empfohlen)</a:t>
            </a:r>
          </a:p>
        </p:txBody>
      </p:sp>
      <p:pic>
        <p:nvPicPr>
          <p:cNvPr id="4" name="Picture 3" descr="usb.jpg"/>
          <p:cNvPicPr>
            <a:picLocks noChangeAspect="1"/>
          </p:cNvPicPr>
          <p:nvPr/>
        </p:nvPicPr>
        <p:blipFill>
          <a:blip r:embed="rId2"/>
          <a:stretch>
            <a:fillRect/>
          </a:stretch>
        </p:blipFill>
        <p:spPr>
          <a:xfrm>
            <a:off x="640079" y="2018211"/>
            <a:ext cx="6217920" cy="3553097"/>
          </a:xfrm>
          <a:prstGeom prst="rect">
            <a:avLst/>
          </a:prstGeom>
        </p:spPr>
      </p:pic>
      <p:sp>
        <p:nvSpPr>
          <p:cNvPr id="5" name="TextBox 4"/>
          <p:cNvSpPr txBox="1"/>
          <p:nvPr/>
        </p:nvSpPr>
        <p:spPr>
          <a:xfrm>
            <a:off x="7223760" y="1600200"/>
            <a:ext cx="4480560" cy="4480560"/>
          </a:xfrm>
          <a:prstGeom prst="rect">
            <a:avLst/>
          </a:prstGeom>
          <a:noFill/>
        </p:spPr>
        <p:txBody>
          <a:bodyPr wrap="square" anchor="ctr" lIns="45720" rIns="45720">
            <a:spAutoFit/>
          </a:bodyPr>
          <a:lstStyle/>
          <a:p>
            <a:pPr>
              <a:spcAft>
                <a:spcPts val="1000"/>
              </a:spcAft>
            </a:pPr>
            <a:r>
              <a:rPr sz="2300" b="0">
                <a:solidFill>
                  <a:srgbClr val="1D1D1D"/>
                </a:solidFill>
                <a:latin typeface="Arial"/>
              </a:rPr>
              <a:t>•  Kleine, schnelle Festplatte am Kabel (ab 512 GB)</a:t>
            </a:r>
          </a:p>
          <a:p>
            <a:pPr>
              <a:spcAft>
                <a:spcPts val="1000"/>
              </a:spcAft>
            </a:pPr>
            <a:r>
              <a:rPr sz="2300" b="0">
                <a:solidFill>
                  <a:srgbClr val="1D1D1D"/>
                </a:solidFill>
                <a:latin typeface="Arial"/>
              </a:rPr>
              <a:t>•  Fertiges System darauf schreiben</a:t>
            </a:r>
          </a:p>
          <a:p>
            <a:pPr>
              <a:spcAft>
                <a:spcPts val="1000"/>
              </a:spcAft>
            </a:pPr>
            <a:r>
              <a:rPr sz="2300" b="0">
                <a:solidFill>
                  <a:srgbClr val="1D1D1D"/>
                </a:solidFill>
                <a:latin typeface="Arial"/>
              </a:rPr>
              <a:t>•  Vorhandenen Windows-PC davon starten</a:t>
            </a:r>
          </a:p>
          <a:p>
            <a:pPr>
              <a:spcAft>
                <a:spcPts val="1000"/>
              </a:spcAft>
            </a:pPr>
            <a:r>
              <a:rPr sz="2300" b="0">
                <a:solidFill>
                  <a:srgbClr val="1D1D1D"/>
                </a:solidFill>
                <a:latin typeface="Arial"/>
              </a:rPr>
              <a:t>•  </a:t>
            </a:r>
            <a:r>
              <a:rPr sz="2300" b="1">
                <a:solidFill>
                  <a:srgbClr val="1D1D1D"/>
                </a:solidFill>
                <a:latin typeface="Arial"/>
              </a:rPr>
              <a:t>Windows bleibt unberührt</a:t>
            </a:r>
          </a:p>
        </p:txBody>
      </p:sp>
      <p:sp>
        <p:nvSpPr>
          <p:cNvPr id="6" name="TextBox 5"/>
          <p:cNvSpPr txBox="1"/>
          <p:nvPr/>
        </p:nvSpPr>
        <p:spPr>
          <a:xfrm>
            <a:off x="640080" y="6446520"/>
            <a:ext cx="8229600" cy="274320"/>
          </a:xfrm>
          <a:prstGeom prst="rect">
            <a:avLst/>
          </a:prstGeom>
          <a:noFill/>
        </p:spPr>
        <p:txBody>
          <a:bodyPr wrap="square" anchor="t" lIns="45720" rIns="45720">
            <a:spAutoFit/>
          </a:bodyPr>
          <a:lstStyle/>
          <a:p>
            <a:r>
              <a:rPr sz="1100" b="0">
                <a:solidFill>
                  <a:srgbClr val="555555"/>
                </a:solidFill>
                <a:latin typeface="Arial"/>
              </a:rPr>
              <a:t>NOMAD – deutsche Fassung (inoffiziell, Apache-2.0)</a:t>
            </a:r>
          </a:p>
        </p:txBody>
      </p:sp>
      <p:sp>
        <p:nvSpPr>
          <p:cNvPr id="7" name="TextBox 6"/>
          <p:cNvSpPr txBox="1"/>
          <p:nvPr/>
        </p:nvSpPr>
        <p:spPr>
          <a:xfrm>
            <a:off x="10881360" y="6446520"/>
            <a:ext cx="914400" cy="274320"/>
          </a:xfrm>
          <a:prstGeom prst="rect">
            <a:avLst/>
          </a:prstGeom>
          <a:noFill/>
        </p:spPr>
        <p:txBody>
          <a:bodyPr wrap="square" anchor="t" lIns="45720" rIns="45720">
            <a:spAutoFit/>
          </a:bodyPr>
          <a:lstStyle/>
          <a:p>
            <a:pPr algn="r"/>
            <a:r>
              <a:rPr sz="1100" b="0">
                <a:solidFill>
                  <a:srgbClr val="555555"/>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56032" cy="6858000"/>
          </a:xfrm>
          <a:prstGeom prst="rect">
            <a:avLst/>
          </a:prstGeom>
          <a:solidFill>
            <a:srgbClr val="3B4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972800" cy="914400"/>
          </a:xfrm>
          <a:prstGeom prst="rect">
            <a:avLst/>
          </a:prstGeom>
          <a:noFill/>
        </p:spPr>
        <p:txBody>
          <a:bodyPr wrap="square" anchor="ctr" lIns="45720" rIns="45720">
            <a:spAutoFit/>
          </a:bodyPr>
          <a:lstStyle/>
          <a:p>
            <a:r>
              <a:rPr sz="3400" b="1">
                <a:solidFill>
                  <a:srgbClr val="3B4021"/>
                </a:solidFill>
                <a:latin typeface="Arial"/>
              </a:rPr>
              <a:t>Weg 2: Ein eigener Rechner</a:t>
            </a:r>
          </a:p>
        </p:txBody>
      </p:sp>
      <p:sp>
        <p:nvSpPr>
          <p:cNvPr id="4" name="TextBox 3"/>
          <p:cNvSpPr txBox="1"/>
          <p:nvPr/>
        </p:nvSpPr>
        <p:spPr>
          <a:xfrm>
            <a:off x="822960" y="1554480"/>
            <a:ext cx="10607040" cy="4572000"/>
          </a:xfrm>
          <a:prstGeom prst="rect">
            <a:avLst/>
          </a:prstGeom>
          <a:noFill/>
        </p:spPr>
        <p:txBody>
          <a:bodyPr wrap="square" anchor="ctr" lIns="45720" rIns="45720">
            <a:spAutoFit/>
          </a:bodyPr>
          <a:lstStyle/>
          <a:p>
            <a:pPr>
              <a:spcAft>
                <a:spcPts val="1400"/>
              </a:spcAft>
            </a:pPr>
            <a:r>
              <a:rPr sz="2600" b="0">
                <a:solidFill>
                  <a:srgbClr val="1D1D1D"/>
                </a:solidFill>
                <a:latin typeface="Arial"/>
              </a:rPr>
              <a:t>•  Einen Rechner ganz für NOMAD freimachen, zum Beispiel ein altes Notebook</a:t>
            </a:r>
          </a:p>
          <a:p>
            <a:pPr>
              <a:spcAft>
                <a:spcPts val="1400"/>
              </a:spcAft>
            </a:pPr>
            <a:r>
              <a:rPr sz="2600" b="0">
                <a:solidFill>
                  <a:srgbClr val="1D1D1D"/>
                </a:solidFill>
                <a:latin typeface="Arial"/>
              </a:rPr>
              <a:t>•  Ubuntu installieren, ein kostenloses Betriebssystem</a:t>
            </a:r>
          </a:p>
          <a:p>
            <a:pPr>
              <a:spcAft>
                <a:spcPts val="1400"/>
              </a:spcAft>
            </a:pPr>
            <a:r>
              <a:rPr sz="2600" b="0">
                <a:solidFill>
                  <a:srgbClr val="1D1D1D"/>
                </a:solidFill>
                <a:latin typeface="Arial"/>
              </a:rPr>
              <a:t>•  Ein Befehl, dann richtet sich NOMAD ein</a:t>
            </a:r>
          </a:p>
          <a:p>
            <a:pPr>
              <a:spcAft>
                <a:spcPts val="1400"/>
              </a:spcAft>
            </a:pPr>
            <a:r>
              <a:rPr sz="2600" b="0">
                <a:solidFill>
                  <a:srgbClr val="1D1D1D"/>
                </a:solidFill>
                <a:latin typeface="Arial"/>
              </a:rPr>
              <a:t>•  Etwas für Technik-Fans, oder mit Hilfe</a:t>
            </a:r>
          </a:p>
        </p:txBody>
      </p:sp>
      <p:sp>
        <p:nvSpPr>
          <p:cNvPr id="5" name="TextBox 4"/>
          <p:cNvSpPr txBox="1"/>
          <p:nvPr/>
        </p:nvSpPr>
        <p:spPr>
          <a:xfrm>
            <a:off x="640080" y="6446520"/>
            <a:ext cx="8229600" cy="274320"/>
          </a:xfrm>
          <a:prstGeom prst="rect">
            <a:avLst/>
          </a:prstGeom>
          <a:noFill/>
        </p:spPr>
        <p:txBody>
          <a:bodyPr wrap="square" anchor="t" lIns="45720" rIns="45720">
            <a:spAutoFit/>
          </a:bodyPr>
          <a:lstStyle/>
          <a:p>
            <a:r>
              <a:rPr sz="1100" b="0">
                <a:solidFill>
                  <a:srgbClr val="555555"/>
                </a:solidFill>
                <a:latin typeface="Arial"/>
              </a:rPr>
              <a:t>NOMAD – deutsche Fassung (inoffiziell, Apache-2.0)</a:t>
            </a:r>
          </a:p>
        </p:txBody>
      </p:sp>
      <p:sp>
        <p:nvSpPr>
          <p:cNvPr id="6" name="TextBox 5"/>
          <p:cNvSpPr txBox="1"/>
          <p:nvPr/>
        </p:nvSpPr>
        <p:spPr>
          <a:xfrm>
            <a:off x="10881360" y="6446520"/>
            <a:ext cx="914400" cy="274320"/>
          </a:xfrm>
          <a:prstGeom prst="rect">
            <a:avLst/>
          </a:prstGeom>
          <a:noFill/>
        </p:spPr>
        <p:txBody>
          <a:bodyPr wrap="square" anchor="t" lIns="45720" rIns="45720">
            <a:spAutoFit/>
          </a:bodyPr>
          <a:lstStyle/>
          <a:p>
            <a:pPr algn="r"/>
            <a:r>
              <a:rPr sz="1100" b="0">
                <a:solidFill>
                  <a:srgbClr val="555555"/>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56032" cy="6858000"/>
          </a:xfrm>
          <a:prstGeom prst="rect">
            <a:avLst/>
          </a:prstGeom>
          <a:solidFill>
            <a:srgbClr val="3B4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972800" cy="914400"/>
          </a:xfrm>
          <a:prstGeom prst="rect">
            <a:avLst/>
          </a:prstGeom>
          <a:noFill/>
        </p:spPr>
        <p:txBody>
          <a:bodyPr wrap="square" anchor="ctr" lIns="45720" rIns="45720">
            <a:spAutoFit/>
          </a:bodyPr>
          <a:lstStyle/>
          <a:p>
            <a:r>
              <a:rPr sz="3400" b="1">
                <a:solidFill>
                  <a:srgbClr val="3B4021"/>
                </a:solidFill>
                <a:latin typeface="Arial"/>
              </a:rPr>
              <a:t>Schnellstart in vier Schritten</a:t>
            </a:r>
          </a:p>
        </p:txBody>
      </p:sp>
      <p:pic>
        <p:nvPicPr>
          <p:cNvPr id="4" name="Picture 3" descr="35-schnellstart-1.png"/>
          <p:cNvPicPr>
            <a:picLocks noChangeAspect="1"/>
          </p:cNvPicPr>
          <p:nvPr/>
        </p:nvPicPr>
        <p:blipFill>
          <a:blip r:embed="rId2"/>
          <a:stretch>
            <a:fillRect/>
          </a:stretch>
        </p:blipFill>
        <p:spPr>
          <a:xfrm>
            <a:off x="2276856" y="1280160"/>
            <a:ext cx="7607808" cy="4754880"/>
          </a:xfrm>
          <a:prstGeom prst="rect">
            <a:avLst/>
          </a:prstGeom>
          <a:ln w="12700">
            <a:solidFill>
              <a:srgbClr val="BBBBBB"/>
            </a:solidFill>
          </a:ln>
        </p:spPr>
      </p:pic>
      <p:sp>
        <p:nvSpPr>
          <p:cNvPr id="5" name="TextBox 4"/>
          <p:cNvSpPr txBox="1"/>
          <p:nvPr/>
        </p:nvSpPr>
        <p:spPr>
          <a:xfrm>
            <a:off x="822960" y="5989320"/>
            <a:ext cx="10515600" cy="457200"/>
          </a:xfrm>
          <a:prstGeom prst="rect">
            <a:avLst/>
          </a:prstGeom>
          <a:noFill/>
        </p:spPr>
        <p:txBody>
          <a:bodyPr wrap="square" anchor="t" lIns="45720" rIns="45720">
            <a:spAutoFit/>
          </a:bodyPr>
          <a:lstStyle/>
          <a:p>
            <a:pPr algn="ctr"/>
            <a:r>
              <a:rPr sz="1800" b="0">
                <a:solidFill>
                  <a:srgbClr val="555555"/>
                </a:solidFill>
                <a:latin typeface="Arial"/>
              </a:rPr>
              <a:t>Apps · Karten · Inhalte · Überprüfen</a:t>
            </a:r>
          </a:p>
        </p:txBody>
      </p:sp>
      <p:sp>
        <p:nvSpPr>
          <p:cNvPr id="6" name="TextBox 5"/>
          <p:cNvSpPr txBox="1"/>
          <p:nvPr/>
        </p:nvSpPr>
        <p:spPr>
          <a:xfrm>
            <a:off x="640080" y="6446520"/>
            <a:ext cx="8229600" cy="274320"/>
          </a:xfrm>
          <a:prstGeom prst="rect">
            <a:avLst/>
          </a:prstGeom>
          <a:noFill/>
        </p:spPr>
        <p:txBody>
          <a:bodyPr wrap="square" anchor="t" lIns="45720" rIns="45720">
            <a:spAutoFit/>
          </a:bodyPr>
          <a:lstStyle/>
          <a:p>
            <a:r>
              <a:rPr sz="1100" b="0">
                <a:solidFill>
                  <a:srgbClr val="555555"/>
                </a:solidFill>
                <a:latin typeface="Arial"/>
              </a:rPr>
              <a:t>NOMAD – deutsche Fassung (inoffiziell, Apache-2.0)</a:t>
            </a:r>
          </a:p>
        </p:txBody>
      </p:sp>
      <p:sp>
        <p:nvSpPr>
          <p:cNvPr id="7" name="TextBox 6"/>
          <p:cNvSpPr txBox="1"/>
          <p:nvPr/>
        </p:nvSpPr>
        <p:spPr>
          <a:xfrm>
            <a:off x="10881360" y="6446520"/>
            <a:ext cx="914400" cy="274320"/>
          </a:xfrm>
          <a:prstGeom prst="rect">
            <a:avLst/>
          </a:prstGeom>
          <a:noFill/>
        </p:spPr>
        <p:txBody>
          <a:bodyPr wrap="square" anchor="t" lIns="45720" rIns="45720">
            <a:spAutoFit/>
          </a:bodyPr>
          <a:lstStyle/>
          <a:p>
            <a:pPr algn="r"/>
            <a:r>
              <a:rPr sz="1100" b="0">
                <a:solidFill>
                  <a:srgbClr val="555555"/>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56032" cy="6858000"/>
          </a:xfrm>
          <a:prstGeom prst="rect">
            <a:avLst/>
          </a:prstGeom>
          <a:solidFill>
            <a:srgbClr val="3B4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972800" cy="914400"/>
          </a:xfrm>
          <a:prstGeom prst="rect">
            <a:avLst/>
          </a:prstGeom>
          <a:noFill/>
        </p:spPr>
        <p:txBody>
          <a:bodyPr wrap="square" anchor="ctr" lIns="45720" rIns="45720">
            <a:spAutoFit/>
          </a:bodyPr>
          <a:lstStyle/>
          <a:p>
            <a:r>
              <a:rPr sz="3400" b="1">
                <a:solidFill>
                  <a:srgbClr val="3B4021"/>
                </a:solidFill>
                <a:latin typeface="Arial"/>
              </a:rPr>
              <a:t>Inhalte: drei Stufen</a:t>
            </a:r>
          </a:p>
        </p:txBody>
      </p:sp>
      <p:pic>
        <p:nvPicPr>
          <p:cNvPr id="4" name="Picture 3" descr="39-medizin-stufen.png"/>
          <p:cNvPicPr>
            <a:picLocks noChangeAspect="1"/>
          </p:cNvPicPr>
          <p:nvPr/>
        </p:nvPicPr>
        <p:blipFill>
          <a:blip r:embed="rId2"/>
          <a:stretch>
            <a:fillRect/>
          </a:stretch>
        </p:blipFill>
        <p:spPr>
          <a:xfrm>
            <a:off x="2276856" y="1280160"/>
            <a:ext cx="7607808" cy="4754880"/>
          </a:xfrm>
          <a:prstGeom prst="rect">
            <a:avLst/>
          </a:prstGeom>
          <a:ln w="12700">
            <a:solidFill>
              <a:srgbClr val="BBBBBB"/>
            </a:solidFill>
          </a:ln>
        </p:spPr>
      </p:pic>
      <p:sp>
        <p:nvSpPr>
          <p:cNvPr id="5" name="TextBox 4"/>
          <p:cNvSpPr txBox="1"/>
          <p:nvPr/>
        </p:nvSpPr>
        <p:spPr>
          <a:xfrm>
            <a:off x="822960" y="5989320"/>
            <a:ext cx="10515600" cy="457200"/>
          </a:xfrm>
          <a:prstGeom prst="rect">
            <a:avLst/>
          </a:prstGeom>
          <a:noFill/>
        </p:spPr>
        <p:txBody>
          <a:bodyPr wrap="square" anchor="t" lIns="45720" rIns="45720">
            <a:spAutoFit/>
          </a:bodyPr>
          <a:lstStyle/>
          <a:p>
            <a:pPr algn="ctr"/>
            <a:r>
              <a:rPr sz="1800" b="0">
                <a:solidFill>
                  <a:srgbClr val="555555"/>
                </a:solidFill>
                <a:latin typeface="Arial"/>
              </a:rPr>
              <a:t>Deutsch: Basis ≈ 0,5 GB · Standard ≈ 6,7 GB · Umfassend ≈ 23 GB  (Englisch: 6 · 36 · 89 GB)</a:t>
            </a:r>
          </a:p>
        </p:txBody>
      </p:sp>
      <p:sp>
        <p:nvSpPr>
          <p:cNvPr id="6" name="TextBox 5"/>
          <p:cNvSpPr txBox="1"/>
          <p:nvPr/>
        </p:nvSpPr>
        <p:spPr>
          <a:xfrm>
            <a:off x="640080" y="6446520"/>
            <a:ext cx="8229600" cy="274320"/>
          </a:xfrm>
          <a:prstGeom prst="rect">
            <a:avLst/>
          </a:prstGeom>
          <a:noFill/>
        </p:spPr>
        <p:txBody>
          <a:bodyPr wrap="square" anchor="t" lIns="45720" rIns="45720">
            <a:spAutoFit/>
          </a:bodyPr>
          <a:lstStyle/>
          <a:p>
            <a:r>
              <a:rPr sz="1100" b="0">
                <a:solidFill>
                  <a:srgbClr val="555555"/>
                </a:solidFill>
                <a:latin typeface="Arial"/>
              </a:rPr>
              <a:t>NOMAD – deutsche Fassung (inoffiziell, Apache-2.0)</a:t>
            </a:r>
          </a:p>
        </p:txBody>
      </p:sp>
      <p:sp>
        <p:nvSpPr>
          <p:cNvPr id="7" name="TextBox 6"/>
          <p:cNvSpPr txBox="1"/>
          <p:nvPr/>
        </p:nvSpPr>
        <p:spPr>
          <a:xfrm>
            <a:off x="10881360" y="6446520"/>
            <a:ext cx="914400" cy="274320"/>
          </a:xfrm>
          <a:prstGeom prst="rect">
            <a:avLst/>
          </a:prstGeom>
          <a:noFill/>
        </p:spPr>
        <p:txBody>
          <a:bodyPr wrap="square" anchor="t" lIns="45720" rIns="45720">
            <a:spAutoFit/>
          </a:bodyPr>
          <a:lstStyle/>
          <a:p>
            <a:pPr algn="r"/>
            <a:r>
              <a:rPr sz="1100" b="0">
                <a:solidFill>
                  <a:srgbClr val="555555"/>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56032" cy="6858000"/>
          </a:xfrm>
          <a:prstGeom prst="rect">
            <a:avLst/>
          </a:prstGeom>
          <a:solidFill>
            <a:srgbClr val="3B4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972800" cy="914400"/>
          </a:xfrm>
          <a:prstGeom prst="rect">
            <a:avLst/>
          </a:prstGeom>
          <a:noFill/>
        </p:spPr>
        <p:txBody>
          <a:bodyPr wrap="square" anchor="ctr" lIns="45720" rIns="45720">
            <a:spAutoFit/>
          </a:bodyPr>
          <a:lstStyle/>
          <a:p>
            <a:r>
              <a:rPr sz="3400" b="1">
                <a:solidFill>
                  <a:srgbClr val="3B4021"/>
                </a:solidFill>
                <a:latin typeface="Arial"/>
              </a:rPr>
              <a:t>Karten: ganze Länder wählen</a:t>
            </a:r>
          </a:p>
        </p:txBody>
      </p:sp>
      <p:pic>
        <p:nvPicPr>
          <p:cNvPr id="4" name="Picture 3" descr="map02-laender-waehlen.png"/>
          <p:cNvPicPr>
            <a:picLocks noChangeAspect="1"/>
          </p:cNvPicPr>
          <p:nvPr/>
        </p:nvPicPr>
        <p:blipFill>
          <a:blip r:embed="rId2"/>
          <a:stretch>
            <a:fillRect/>
          </a:stretch>
        </p:blipFill>
        <p:spPr>
          <a:xfrm>
            <a:off x="2514599" y="1280160"/>
            <a:ext cx="7132320" cy="4754880"/>
          </a:xfrm>
          <a:prstGeom prst="rect">
            <a:avLst/>
          </a:prstGeom>
          <a:ln w="12700">
            <a:solidFill>
              <a:srgbClr val="BBBBBB"/>
            </a:solidFill>
          </a:ln>
        </p:spPr>
      </p:pic>
      <p:sp>
        <p:nvSpPr>
          <p:cNvPr id="5" name="TextBox 4"/>
          <p:cNvSpPr txBox="1"/>
          <p:nvPr/>
        </p:nvSpPr>
        <p:spPr>
          <a:xfrm>
            <a:off x="822960" y="5989320"/>
            <a:ext cx="10515600" cy="457200"/>
          </a:xfrm>
          <a:prstGeom prst="rect">
            <a:avLst/>
          </a:prstGeom>
          <a:noFill/>
        </p:spPr>
        <p:txBody>
          <a:bodyPr wrap="square" anchor="t" lIns="45720" rIns="45720">
            <a:spAutoFit/>
          </a:bodyPr>
          <a:lstStyle/>
          <a:p>
            <a:pPr algn="ctr"/>
            <a:r>
              <a:rPr sz="1800" b="0">
                <a:solidFill>
                  <a:srgbClr val="555555"/>
                </a:solidFill>
                <a:latin typeface="Arial"/>
              </a:rPr>
              <a:t>Deutschland bis Stadtebene: etwa 0,12 GB, mit einzelnen Straßen: etwa 5,6 GB</a:t>
            </a:r>
          </a:p>
        </p:txBody>
      </p:sp>
      <p:sp>
        <p:nvSpPr>
          <p:cNvPr id="6" name="TextBox 5"/>
          <p:cNvSpPr txBox="1"/>
          <p:nvPr/>
        </p:nvSpPr>
        <p:spPr>
          <a:xfrm>
            <a:off x="640080" y="6446520"/>
            <a:ext cx="8229600" cy="274320"/>
          </a:xfrm>
          <a:prstGeom prst="rect">
            <a:avLst/>
          </a:prstGeom>
          <a:noFill/>
        </p:spPr>
        <p:txBody>
          <a:bodyPr wrap="square" anchor="t" lIns="45720" rIns="45720">
            <a:spAutoFit/>
          </a:bodyPr>
          <a:lstStyle/>
          <a:p>
            <a:r>
              <a:rPr sz="1100" b="0">
                <a:solidFill>
                  <a:srgbClr val="555555"/>
                </a:solidFill>
                <a:latin typeface="Arial"/>
              </a:rPr>
              <a:t>NOMAD – deutsche Fassung (inoffiziell, Apache-2.0)</a:t>
            </a:r>
          </a:p>
        </p:txBody>
      </p:sp>
      <p:sp>
        <p:nvSpPr>
          <p:cNvPr id="7" name="TextBox 6"/>
          <p:cNvSpPr txBox="1"/>
          <p:nvPr/>
        </p:nvSpPr>
        <p:spPr>
          <a:xfrm>
            <a:off x="10881360" y="6446520"/>
            <a:ext cx="914400" cy="274320"/>
          </a:xfrm>
          <a:prstGeom prst="rect">
            <a:avLst/>
          </a:prstGeom>
          <a:noFill/>
        </p:spPr>
        <p:txBody>
          <a:bodyPr wrap="square" anchor="t" lIns="45720" rIns="45720">
            <a:spAutoFit/>
          </a:bodyPr>
          <a:lstStyle/>
          <a:p>
            <a:pPr algn="r"/>
            <a:r>
              <a:rPr sz="1100" b="0">
                <a:solidFill>
                  <a:srgbClr val="555555"/>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56032" cy="6858000"/>
          </a:xfrm>
          <a:prstGeom prst="rect">
            <a:avLst/>
          </a:prstGeom>
          <a:solidFill>
            <a:srgbClr val="3B4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972800" cy="914400"/>
          </a:xfrm>
          <a:prstGeom prst="rect">
            <a:avLst/>
          </a:prstGeom>
          <a:noFill/>
        </p:spPr>
        <p:txBody>
          <a:bodyPr wrap="square" anchor="ctr" lIns="45720" rIns="45720">
            <a:spAutoFit/>
          </a:bodyPr>
          <a:lstStyle/>
          <a:p>
            <a:r>
              <a:rPr sz="3400" b="1">
                <a:solidFill>
                  <a:srgbClr val="3B4021"/>
                </a:solidFill>
                <a:latin typeface="Arial"/>
              </a:rPr>
              <a:t>Ab wann geht es ohne Internet?</a:t>
            </a:r>
          </a:p>
        </p:txBody>
      </p:sp>
      <p:graphicFrame>
        <p:nvGraphicFramePr>
          <p:cNvPr id="4" name="Table 3"/>
          <p:cNvGraphicFramePr>
            <a:graphicFrameLocks noGrp="1"/>
          </p:cNvGraphicFramePr>
          <p:nvPr/>
        </p:nvGraphicFramePr>
        <p:xfrm>
          <a:off x="822960" y="1554480"/>
          <a:ext cx="10515600" cy="3429000"/>
        </p:xfrm>
        <a:graphic>
          <a:graphicData uri="http://schemas.openxmlformats.org/drawingml/2006/table">
            <a:tbl>
              <a:tblPr firstRow="1" bandRow="1">
                <a:tableStyleId>{5C22544A-7EE6-4342-B048-85BDC9FD1C3A}</a:tableStyleId>
              </a:tblPr>
              <a:tblGrid>
                <a:gridCol w="3566160"/>
                <a:gridCol w="3931920"/>
                <a:gridCol w="3017520"/>
              </a:tblGrid>
              <a:tr h="685800">
                <a:tc>
                  <a:txBody>
                    <a:bodyPr/>
                    <a:lstStyle/>
                    <a:p>
                      <a:r>
                        <a:rPr sz="2000" b="1">
                          <a:solidFill>
                            <a:srgbClr val="FFFFFF"/>
                          </a:solidFill>
                          <a:latin typeface="Arial"/>
                        </a:rPr>
                        <a:t>Stufe</a:t>
                      </a:r>
                    </a:p>
                  </a:txBody>
                  <a:tcPr>
                    <a:solidFill>
                      <a:srgbClr val="3B4021"/>
                    </a:solidFill>
                  </a:tcPr>
                </a:tc>
                <a:tc>
                  <a:txBody>
                    <a:bodyPr/>
                    <a:lstStyle/>
                    <a:p>
                      <a:r>
                        <a:rPr sz="2000" b="1">
                          <a:solidFill>
                            <a:srgbClr val="FFFFFF"/>
                          </a:solidFill>
                          <a:latin typeface="Arial"/>
                        </a:rPr>
                        <a:t>Das geht ohne Internet</a:t>
                      </a:r>
                    </a:p>
                  </a:txBody>
                  <a:tcPr>
                    <a:solidFill>
                      <a:srgbClr val="3B4021"/>
                    </a:solidFill>
                  </a:tcPr>
                </a:tc>
                <a:tc>
                  <a:txBody>
                    <a:bodyPr/>
                    <a:lstStyle/>
                    <a:p>
                      <a:r>
                        <a:rPr sz="2000" b="1">
                          <a:solidFill>
                            <a:srgbClr val="FFFFFF"/>
                          </a:solidFill>
                          <a:latin typeface="Arial"/>
                        </a:rPr>
                        <a:t>Das braucht Internet</a:t>
                      </a:r>
                    </a:p>
                  </a:txBody>
                  <a:tcPr>
                    <a:solidFill>
                      <a:srgbClr val="3B4021"/>
                    </a:solidFill>
                  </a:tcPr>
                </a:tc>
              </a:tr>
              <a:tr h="685800">
                <a:tc>
                  <a:txBody>
                    <a:bodyPr/>
                    <a:lstStyle/>
                    <a:p>
                      <a:r>
                        <a:rPr sz="1900" b="1">
                          <a:solidFill>
                            <a:srgbClr val="1D1D1D"/>
                          </a:solidFill>
                          <a:latin typeface="Arial"/>
                        </a:rPr>
                        <a:t>A. Gestartet</a:t>
                      </a:r>
                    </a:p>
                  </a:txBody>
                  <a:tcPr>
                    <a:solidFill>
                      <a:srgbClr val="F4EDD8"/>
                    </a:solidFill>
                  </a:tcPr>
                </a:tc>
                <a:tc>
                  <a:txBody>
                    <a:bodyPr/>
                    <a:lstStyle/>
                    <a:p>
                      <a:r>
                        <a:rPr sz="1900" b="0">
                          <a:solidFill>
                            <a:srgbClr val="1D1D1D"/>
                          </a:solidFill>
                          <a:latin typeface="Arial"/>
                        </a:rPr>
                        <a:t>Rechner starten, Anleitungen lesen</a:t>
                      </a:r>
                    </a:p>
                  </a:txBody>
                  <a:tcPr>
                    <a:solidFill>
                      <a:srgbClr val="F4EDD8"/>
                    </a:solidFill>
                  </a:tcPr>
                </a:tc>
                <a:tc>
                  <a:txBody>
                    <a:bodyPr/>
                    <a:lstStyle/>
                    <a:p>
                      <a:r>
                        <a:rPr sz="1900" b="0">
                          <a:solidFill>
                            <a:srgbClr val="1D1D1D"/>
                          </a:solidFill>
                          <a:latin typeface="Arial"/>
                        </a:rPr>
                        <a:t>Alles Weitere</a:t>
                      </a:r>
                    </a:p>
                  </a:txBody>
                  <a:tcPr>
                    <a:solidFill>
                      <a:srgbClr val="F4EDD8"/>
                    </a:solidFill>
                  </a:tcPr>
                </a:tc>
              </a:tr>
              <a:tr h="685800">
                <a:tc>
                  <a:txBody>
                    <a:bodyPr/>
                    <a:lstStyle/>
                    <a:p>
                      <a:r>
                        <a:rPr sz="1900" b="1">
                          <a:solidFill>
                            <a:srgbClr val="1D1D1D"/>
                          </a:solidFill>
                          <a:latin typeface="Arial"/>
                        </a:rPr>
                        <a:t>B. Inhalte geladen</a:t>
                      </a:r>
                    </a:p>
                  </a:txBody>
                  <a:tcPr>
                    <a:solidFill>
                      <a:srgbClr val="FFFFFF"/>
                    </a:solidFill>
                  </a:tcPr>
                </a:tc>
                <a:tc>
                  <a:txBody>
                    <a:bodyPr/>
                    <a:lstStyle/>
                    <a:p>
                      <a:r>
                        <a:rPr sz="1900" b="0">
                          <a:solidFill>
                            <a:srgbClr val="1D1D1D"/>
                          </a:solidFill>
                          <a:latin typeface="Arial"/>
                        </a:rPr>
                        <a:t>Wikipedia und Nachschlagewerke lesen und suchen</a:t>
                      </a:r>
                    </a:p>
                  </a:txBody>
                  <a:tcPr>
                    <a:solidFill>
                      <a:srgbClr val="FFFFFF"/>
                    </a:solidFill>
                  </a:tcPr>
                </a:tc>
                <a:tc>
                  <a:txBody>
                    <a:bodyPr/>
                    <a:lstStyle/>
                    <a:p>
                      <a:r>
                        <a:rPr sz="1900" b="0">
                          <a:solidFill>
                            <a:srgbClr val="1D1D1D"/>
                          </a:solidFill>
                          <a:latin typeface="Arial"/>
                        </a:rPr>
                        <a:t>Neue Inhalte, Updates</a:t>
                      </a:r>
                    </a:p>
                  </a:txBody>
                  <a:tcPr>
                    <a:solidFill>
                      <a:srgbClr val="FFFFFF"/>
                    </a:solidFill>
                  </a:tcPr>
                </a:tc>
              </a:tr>
              <a:tr h="685800">
                <a:tc>
                  <a:txBody>
                    <a:bodyPr/>
                    <a:lstStyle/>
                    <a:p>
                      <a:r>
                        <a:rPr sz="1900" b="1">
                          <a:solidFill>
                            <a:srgbClr val="1D1D1D"/>
                          </a:solidFill>
                          <a:latin typeface="Arial"/>
                        </a:rPr>
                        <a:t>C. Karten geladen</a:t>
                      </a:r>
                    </a:p>
                  </a:txBody>
                  <a:tcPr>
                    <a:solidFill>
                      <a:srgbClr val="F4EDD8"/>
                    </a:solidFill>
                  </a:tcPr>
                </a:tc>
                <a:tc>
                  <a:txBody>
                    <a:bodyPr/>
                    <a:lstStyle/>
                    <a:p>
                      <a:r>
                        <a:rPr sz="1900" b="0">
                          <a:solidFill>
                            <a:srgbClr val="1D1D1D"/>
                          </a:solidFill>
                          <a:latin typeface="Arial"/>
                        </a:rPr>
                        <a:t>Karte der geladenen Länder</a:t>
                      </a:r>
                    </a:p>
                  </a:txBody>
                  <a:tcPr>
                    <a:solidFill>
                      <a:srgbClr val="F4EDD8"/>
                    </a:solidFill>
                  </a:tcPr>
                </a:tc>
                <a:tc>
                  <a:txBody>
                    <a:bodyPr/>
                    <a:lstStyle/>
                    <a:p>
                      <a:r>
                        <a:rPr sz="1900" b="0">
                          <a:solidFill>
                            <a:srgbClr val="1D1D1D"/>
                          </a:solidFill>
                          <a:latin typeface="Arial"/>
                        </a:rPr>
                        <a:t>Weitere Länder</a:t>
                      </a:r>
                    </a:p>
                  </a:txBody>
                  <a:tcPr>
                    <a:solidFill>
                      <a:srgbClr val="F4EDD8"/>
                    </a:solidFill>
                  </a:tcPr>
                </a:tc>
              </a:tr>
              <a:tr h="685800">
                <a:tc>
                  <a:txBody>
                    <a:bodyPr/>
                    <a:lstStyle/>
                    <a:p>
                      <a:r>
                        <a:rPr sz="1900" b="1">
                          <a:solidFill>
                            <a:srgbClr val="1D1D1D"/>
                          </a:solidFill>
                          <a:latin typeface="Arial"/>
                        </a:rPr>
                        <a:t>D. KI eingerichtet</a:t>
                      </a:r>
                    </a:p>
                  </a:txBody>
                  <a:tcPr>
                    <a:solidFill>
                      <a:srgbClr val="FFFFFF"/>
                    </a:solidFill>
                  </a:tcPr>
                </a:tc>
                <a:tc>
                  <a:txBody>
                    <a:bodyPr/>
                    <a:lstStyle/>
                    <a:p>
                      <a:r>
                        <a:rPr sz="1900" b="0">
                          <a:solidFill>
                            <a:srgbClr val="1D1D1D"/>
                          </a:solidFill>
                          <a:latin typeface="Arial"/>
                        </a:rPr>
                        <a:t>Fragen an den lokalen Assistenten</a:t>
                      </a:r>
                    </a:p>
                  </a:txBody>
                  <a:tcPr>
                    <a:solidFill>
                      <a:srgbClr val="FFFFFF"/>
                    </a:solidFill>
                  </a:tcPr>
                </a:tc>
                <a:tc>
                  <a:txBody>
                    <a:bodyPr/>
                    <a:lstStyle/>
                    <a:p>
                      <a:r>
                        <a:rPr sz="1900" b="0">
                          <a:solidFill>
                            <a:srgbClr val="1D1D1D"/>
                          </a:solidFill>
                          <a:latin typeface="Arial"/>
                        </a:rPr>
                        <a:t>Modell einmal laden</a:t>
                      </a:r>
                    </a:p>
                  </a:txBody>
                  <a:tcPr>
                    <a:solidFill>
                      <a:srgbClr val="FFFFFF"/>
                    </a:solidFill>
                  </a:tcPr>
                </a:tc>
              </a:tr>
            </a:tbl>
          </a:graphicData>
        </a:graphic>
      </p:graphicFrame>
      <p:sp>
        <p:nvSpPr>
          <p:cNvPr id="5" name="TextBox 4"/>
          <p:cNvSpPr txBox="1"/>
          <p:nvPr/>
        </p:nvSpPr>
        <p:spPr>
          <a:xfrm>
            <a:off x="640080" y="6446520"/>
            <a:ext cx="8229600" cy="274320"/>
          </a:xfrm>
          <a:prstGeom prst="rect">
            <a:avLst/>
          </a:prstGeom>
          <a:noFill/>
        </p:spPr>
        <p:txBody>
          <a:bodyPr wrap="square" anchor="t" lIns="45720" rIns="45720">
            <a:spAutoFit/>
          </a:bodyPr>
          <a:lstStyle/>
          <a:p>
            <a:r>
              <a:rPr sz="1100" b="0">
                <a:solidFill>
                  <a:srgbClr val="555555"/>
                </a:solidFill>
                <a:latin typeface="Arial"/>
              </a:rPr>
              <a:t>NOMAD – deutsche Fassung (inoffiziell, Apache-2.0)</a:t>
            </a:r>
          </a:p>
        </p:txBody>
      </p:sp>
      <p:sp>
        <p:nvSpPr>
          <p:cNvPr id="6" name="TextBox 5"/>
          <p:cNvSpPr txBox="1"/>
          <p:nvPr/>
        </p:nvSpPr>
        <p:spPr>
          <a:xfrm>
            <a:off x="10881360" y="6446520"/>
            <a:ext cx="914400" cy="274320"/>
          </a:xfrm>
          <a:prstGeom prst="rect">
            <a:avLst/>
          </a:prstGeom>
          <a:noFill/>
        </p:spPr>
        <p:txBody>
          <a:bodyPr wrap="square" anchor="t" lIns="45720" rIns="45720">
            <a:spAutoFit/>
          </a:bodyPr>
          <a:lstStyle/>
          <a:p>
            <a:pPr algn="r"/>
            <a:r>
              <a:rPr sz="1100" b="0">
                <a:solidFill>
                  <a:srgbClr val="555555"/>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56032" cy="6858000"/>
          </a:xfrm>
          <a:prstGeom prst="rect">
            <a:avLst/>
          </a:prstGeom>
          <a:solidFill>
            <a:srgbClr val="3B4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972800" cy="914400"/>
          </a:xfrm>
          <a:prstGeom prst="rect">
            <a:avLst/>
          </a:prstGeom>
          <a:noFill/>
        </p:spPr>
        <p:txBody>
          <a:bodyPr wrap="square" anchor="ctr" lIns="45720" rIns="45720">
            <a:spAutoFit/>
          </a:bodyPr>
          <a:lstStyle/>
          <a:p>
            <a:r>
              <a:rPr sz="3400" b="1">
                <a:solidFill>
                  <a:srgbClr val="3B4021"/>
                </a:solidFill>
                <a:latin typeface="Arial"/>
              </a:rPr>
              <a:t>Der Offline-Test</a:t>
            </a:r>
          </a:p>
        </p:txBody>
      </p:sp>
      <p:pic>
        <p:nvPicPr>
          <p:cNvPr id="4" name="Picture 3" descr="44-offline-test-terminal.png"/>
          <p:cNvPicPr>
            <a:picLocks noChangeAspect="1"/>
          </p:cNvPicPr>
          <p:nvPr/>
        </p:nvPicPr>
        <p:blipFill>
          <a:blip r:embed="rId2"/>
          <a:stretch>
            <a:fillRect/>
          </a:stretch>
        </p:blipFill>
        <p:spPr>
          <a:xfrm>
            <a:off x="2276856" y="1280160"/>
            <a:ext cx="7607808" cy="4754880"/>
          </a:xfrm>
          <a:prstGeom prst="rect">
            <a:avLst/>
          </a:prstGeom>
          <a:ln w="12700">
            <a:solidFill>
              <a:srgbClr val="BBBBBB"/>
            </a:solidFill>
          </a:ln>
        </p:spPr>
      </p:pic>
      <p:sp>
        <p:nvSpPr>
          <p:cNvPr id="5" name="TextBox 4"/>
          <p:cNvSpPr txBox="1"/>
          <p:nvPr/>
        </p:nvSpPr>
        <p:spPr>
          <a:xfrm>
            <a:off x="822960" y="5989320"/>
            <a:ext cx="10515600" cy="457200"/>
          </a:xfrm>
          <a:prstGeom prst="rect">
            <a:avLst/>
          </a:prstGeom>
          <a:noFill/>
        </p:spPr>
        <p:txBody>
          <a:bodyPr wrap="square" anchor="t" lIns="45720" rIns="45720">
            <a:spAutoFit/>
          </a:bodyPr>
          <a:lstStyle/>
          <a:p>
            <a:pPr algn="ctr"/>
            <a:r>
              <a:rPr sz="1800" b="0">
                <a:solidFill>
                  <a:srgbClr val="555555"/>
                </a:solidFill>
                <a:latin typeface="Arial"/>
              </a:rPr>
              <a:t>Kabel ziehen · neu starten · Checkliste abhaken</a:t>
            </a:r>
          </a:p>
        </p:txBody>
      </p:sp>
      <p:sp>
        <p:nvSpPr>
          <p:cNvPr id="6" name="TextBox 5"/>
          <p:cNvSpPr txBox="1"/>
          <p:nvPr/>
        </p:nvSpPr>
        <p:spPr>
          <a:xfrm>
            <a:off x="640080" y="6446520"/>
            <a:ext cx="8229600" cy="274320"/>
          </a:xfrm>
          <a:prstGeom prst="rect">
            <a:avLst/>
          </a:prstGeom>
          <a:noFill/>
        </p:spPr>
        <p:txBody>
          <a:bodyPr wrap="square" anchor="t" lIns="45720" rIns="45720">
            <a:spAutoFit/>
          </a:bodyPr>
          <a:lstStyle/>
          <a:p>
            <a:r>
              <a:rPr sz="1100" b="0">
                <a:solidFill>
                  <a:srgbClr val="555555"/>
                </a:solidFill>
                <a:latin typeface="Arial"/>
              </a:rPr>
              <a:t>NOMAD – deutsche Fassung (inoffiziell, Apache-2.0)</a:t>
            </a:r>
          </a:p>
        </p:txBody>
      </p:sp>
      <p:sp>
        <p:nvSpPr>
          <p:cNvPr id="7" name="TextBox 6"/>
          <p:cNvSpPr txBox="1"/>
          <p:nvPr/>
        </p:nvSpPr>
        <p:spPr>
          <a:xfrm>
            <a:off x="10881360" y="6446520"/>
            <a:ext cx="914400" cy="274320"/>
          </a:xfrm>
          <a:prstGeom prst="rect">
            <a:avLst/>
          </a:prstGeom>
          <a:noFill/>
        </p:spPr>
        <p:txBody>
          <a:bodyPr wrap="square" anchor="t" lIns="45720" rIns="45720">
            <a:spAutoFit/>
          </a:bodyPr>
          <a:lstStyle/>
          <a:p>
            <a:pPr algn="r"/>
            <a:r>
              <a:rPr sz="1100" b="0">
                <a:solidFill>
                  <a:srgbClr val="555555"/>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56032" cy="6858000"/>
          </a:xfrm>
          <a:prstGeom prst="rect">
            <a:avLst/>
          </a:prstGeom>
          <a:solidFill>
            <a:srgbClr val="3B4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972800" cy="914400"/>
          </a:xfrm>
          <a:prstGeom prst="rect">
            <a:avLst/>
          </a:prstGeom>
          <a:noFill/>
        </p:spPr>
        <p:txBody>
          <a:bodyPr wrap="square" anchor="ctr" lIns="45720" rIns="45720">
            <a:spAutoFit/>
          </a:bodyPr>
          <a:lstStyle/>
          <a:p>
            <a:r>
              <a:rPr sz="3400" b="1">
                <a:solidFill>
                  <a:srgbClr val="3B4021"/>
                </a:solidFill>
                <a:latin typeface="Arial"/>
              </a:rPr>
              <a:t>Strom: Wie lange läuft das?</a:t>
            </a:r>
          </a:p>
        </p:txBody>
      </p:sp>
      <p:pic>
        <p:nvPicPr>
          <p:cNvPr id="4" name="Picture 3" descr="energie.jpg"/>
          <p:cNvPicPr>
            <a:picLocks noChangeAspect="1"/>
          </p:cNvPicPr>
          <p:nvPr/>
        </p:nvPicPr>
        <p:blipFill>
          <a:blip r:embed="rId2"/>
          <a:stretch>
            <a:fillRect/>
          </a:stretch>
        </p:blipFill>
        <p:spPr>
          <a:xfrm>
            <a:off x="640079" y="2018211"/>
            <a:ext cx="6217920" cy="3553097"/>
          </a:xfrm>
          <a:prstGeom prst="rect">
            <a:avLst/>
          </a:prstGeom>
        </p:spPr>
      </p:pic>
      <p:sp>
        <p:nvSpPr>
          <p:cNvPr id="5" name="TextBox 4"/>
          <p:cNvSpPr txBox="1"/>
          <p:nvPr/>
        </p:nvSpPr>
        <p:spPr>
          <a:xfrm>
            <a:off x="7223760" y="1600200"/>
            <a:ext cx="4480560" cy="4480560"/>
          </a:xfrm>
          <a:prstGeom prst="rect">
            <a:avLst/>
          </a:prstGeom>
          <a:noFill/>
        </p:spPr>
        <p:txBody>
          <a:bodyPr wrap="square" anchor="ctr" lIns="45720" rIns="45720">
            <a:spAutoFit/>
          </a:bodyPr>
          <a:lstStyle/>
          <a:p>
            <a:pPr>
              <a:spcAft>
                <a:spcPts val="1000"/>
              </a:spcAft>
            </a:pPr>
            <a:r>
              <a:rPr sz="2300" b="0">
                <a:solidFill>
                  <a:srgbClr val="1D1D1D"/>
                </a:solidFill>
                <a:latin typeface="Arial"/>
              </a:rPr>
              <a:t>•  Notebook im Betrieb: etwa </a:t>
            </a:r>
            <a:r>
              <a:rPr sz="2300" b="1">
                <a:solidFill>
                  <a:srgbClr val="1D1D1D"/>
                </a:solidFill>
                <a:latin typeface="Arial"/>
              </a:rPr>
              <a:t>20 Watt</a:t>
            </a:r>
          </a:p>
          <a:p>
            <a:pPr>
              <a:spcAft>
                <a:spcPts val="1000"/>
              </a:spcAft>
            </a:pPr>
            <a:r>
              <a:rPr sz="2300" b="0">
                <a:solidFill>
                  <a:srgbClr val="1D1D1D"/>
                </a:solidFill>
                <a:latin typeface="Arial"/>
              </a:rPr>
              <a:t>•  Powerbank 99 Wh: etwa 4 Stunden</a:t>
            </a:r>
          </a:p>
          <a:p>
            <a:pPr>
              <a:spcAft>
                <a:spcPts val="1000"/>
              </a:spcAft>
            </a:pPr>
            <a:r>
              <a:rPr sz="2300" b="0">
                <a:solidFill>
                  <a:srgbClr val="1D1D1D"/>
                </a:solidFill>
                <a:latin typeface="Arial"/>
              </a:rPr>
              <a:t>•  Powerstation 500 Wh: etwa 21 Stunden</a:t>
            </a:r>
          </a:p>
          <a:p>
            <a:pPr>
              <a:spcAft>
                <a:spcPts val="1000"/>
              </a:spcAft>
            </a:pPr>
            <a:r>
              <a:rPr sz="2300" b="0">
                <a:solidFill>
                  <a:srgbClr val="1D1D1D"/>
                </a:solidFill>
                <a:latin typeface="Arial"/>
              </a:rPr>
              <a:t>•  Solarpanel 100 W: im Sommer ≈ 350 Wh am Tag, im Winter oft nur 50 bis 100 Wh</a:t>
            </a:r>
          </a:p>
        </p:txBody>
      </p:sp>
      <p:sp>
        <p:nvSpPr>
          <p:cNvPr id="6" name="TextBox 5"/>
          <p:cNvSpPr txBox="1"/>
          <p:nvPr/>
        </p:nvSpPr>
        <p:spPr>
          <a:xfrm>
            <a:off x="640080" y="6446520"/>
            <a:ext cx="8229600" cy="274320"/>
          </a:xfrm>
          <a:prstGeom prst="rect">
            <a:avLst/>
          </a:prstGeom>
          <a:noFill/>
        </p:spPr>
        <p:txBody>
          <a:bodyPr wrap="square" anchor="t" lIns="45720" rIns="45720">
            <a:spAutoFit/>
          </a:bodyPr>
          <a:lstStyle/>
          <a:p>
            <a:r>
              <a:rPr sz="1100" b="0">
                <a:solidFill>
                  <a:srgbClr val="555555"/>
                </a:solidFill>
                <a:latin typeface="Arial"/>
              </a:rPr>
              <a:t>NOMAD – deutsche Fassung (inoffiziell, Apache-2.0)</a:t>
            </a:r>
          </a:p>
        </p:txBody>
      </p:sp>
      <p:sp>
        <p:nvSpPr>
          <p:cNvPr id="7" name="TextBox 6"/>
          <p:cNvSpPr txBox="1"/>
          <p:nvPr/>
        </p:nvSpPr>
        <p:spPr>
          <a:xfrm>
            <a:off x="10881360" y="6446520"/>
            <a:ext cx="914400" cy="274320"/>
          </a:xfrm>
          <a:prstGeom prst="rect">
            <a:avLst/>
          </a:prstGeom>
          <a:noFill/>
        </p:spPr>
        <p:txBody>
          <a:bodyPr wrap="square" anchor="t" lIns="45720" rIns="45720">
            <a:spAutoFit/>
          </a:bodyPr>
          <a:lstStyle/>
          <a:p>
            <a:pPr algn="r"/>
            <a:r>
              <a:rPr sz="1100" b="0">
                <a:solidFill>
                  <a:srgbClr val="555555"/>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56032" cy="6858000"/>
          </a:xfrm>
          <a:prstGeom prst="rect">
            <a:avLst/>
          </a:prstGeom>
          <a:solidFill>
            <a:srgbClr val="3B4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972800" cy="914400"/>
          </a:xfrm>
          <a:prstGeom prst="rect">
            <a:avLst/>
          </a:prstGeom>
          <a:noFill/>
        </p:spPr>
        <p:txBody>
          <a:bodyPr wrap="square" anchor="ctr" lIns="45720" rIns="45720">
            <a:spAutoFit/>
          </a:bodyPr>
          <a:lstStyle/>
          <a:p>
            <a:r>
              <a:rPr sz="3400" b="1">
                <a:solidFill>
                  <a:srgbClr val="3B4021"/>
                </a:solidFill>
                <a:latin typeface="Arial"/>
              </a:rPr>
              <a:t>Das Handbuch zum Ausdrucken</a:t>
            </a:r>
          </a:p>
        </p:txBody>
      </p:sp>
      <p:pic>
        <p:nvPicPr>
          <p:cNvPr id="4" name="Picture 3" descr="handbuch.jpg"/>
          <p:cNvPicPr>
            <a:picLocks noChangeAspect="1"/>
          </p:cNvPicPr>
          <p:nvPr/>
        </p:nvPicPr>
        <p:blipFill>
          <a:blip r:embed="rId2"/>
          <a:stretch>
            <a:fillRect/>
          </a:stretch>
        </p:blipFill>
        <p:spPr>
          <a:xfrm>
            <a:off x="640079" y="2018211"/>
            <a:ext cx="6217920" cy="3553097"/>
          </a:xfrm>
          <a:prstGeom prst="rect">
            <a:avLst/>
          </a:prstGeom>
        </p:spPr>
      </p:pic>
      <p:sp>
        <p:nvSpPr>
          <p:cNvPr id="5" name="TextBox 4"/>
          <p:cNvSpPr txBox="1"/>
          <p:nvPr/>
        </p:nvSpPr>
        <p:spPr>
          <a:xfrm>
            <a:off x="7223760" y="1600200"/>
            <a:ext cx="4480560" cy="4480560"/>
          </a:xfrm>
          <a:prstGeom prst="rect">
            <a:avLst/>
          </a:prstGeom>
          <a:noFill/>
        </p:spPr>
        <p:txBody>
          <a:bodyPr wrap="square" anchor="ctr" lIns="45720" rIns="45720">
            <a:spAutoFit/>
          </a:bodyPr>
          <a:lstStyle/>
          <a:p>
            <a:pPr>
              <a:spcAft>
                <a:spcPts val="1000"/>
              </a:spcAft>
            </a:pPr>
            <a:r>
              <a:rPr sz="2300" b="0">
                <a:solidFill>
                  <a:srgbClr val="1D1D1D"/>
                </a:solidFill>
                <a:latin typeface="Arial"/>
              </a:rPr>
              <a:t>•  Rund </a:t>
            </a:r>
            <a:r>
              <a:rPr sz="2300" b="1">
                <a:solidFill>
                  <a:srgbClr val="1D1D1D"/>
                </a:solidFill>
                <a:latin typeface="Arial"/>
              </a:rPr>
              <a:t>55 Seiten</a:t>
            </a:r>
            <a:r>
              <a:rPr sz="2300" b="0">
                <a:solidFill>
                  <a:srgbClr val="1D1D1D"/>
                </a:solidFill>
                <a:latin typeface="Arial"/>
              </a:rPr>
              <a:t>, jeder Schritt mit Bild</a:t>
            </a:r>
          </a:p>
          <a:p>
            <a:pPr>
              <a:spcAft>
                <a:spcPts val="1000"/>
              </a:spcAft>
            </a:pPr>
            <a:r>
              <a:rPr sz="2300" b="0">
                <a:solidFill>
                  <a:srgbClr val="1D1D1D"/>
                </a:solidFill>
                <a:latin typeface="Arial"/>
              </a:rPr>
              <a:t>•  Eine </a:t>
            </a:r>
            <a:r>
              <a:rPr sz="2300" b="1">
                <a:solidFill>
                  <a:srgbClr val="1D1D1D"/>
                </a:solidFill>
                <a:latin typeface="Arial"/>
              </a:rPr>
              <a:t>Notfall-Karte</a:t>
            </a:r>
            <a:r>
              <a:rPr sz="2300" b="0">
                <a:solidFill>
                  <a:srgbClr val="1D1D1D"/>
                </a:solidFill>
                <a:latin typeface="Arial"/>
              </a:rPr>
              <a:t> für den Küchenschrank</a:t>
            </a:r>
          </a:p>
          <a:p>
            <a:pPr>
              <a:spcAft>
                <a:spcPts val="1000"/>
              </a:spcAft>
            </a:pPr>
            <a:r>
              <a:rPr sz="2300" b="0">
                <a:solidFill>
                  <a:srgbClr val="1D1D1D"/>
                </a:solidFill>
                <a:latin typeface="Arial"/>
              </a:rPr>
              <a:t>•  Tabellen zum Ausfüllen: Version, Inhalte, Zugangsdaten</a:t>
            </a:r>
          </a:p>
          <a:p>
            <a:pPr>
              <a:spcAft>
                <a:spcPts val="1000"/>
              </a:spcAft>
            </a:pPr>
            <a:r>
              <a:rPr sz="2300" b="0">
                <a:solidFill>
                  <a:srgbClr val="1D1D1D"/>
                </a:solidFill>
                <a:latin typeface="Arial"/>
              </a:rPr>
              <a:t>•  Als </a:t>
            </a:r>
            <a:r>
              <a:rPr sz="2300" b="1">
                <a:solidFill>
                  <a:srgbClr val="1D1D1D"/>
                </a:solidFill>
                <a:latin typeface="Arial"/>
              </a:rPr>
              <a:t>PDF</a:t>
            </a:r>
            <a:r>
              <a:rPr sz="2300" b="0">
                <a:solidFill>
                  <a:srgbClr val="1D1D1D"/>
                </a:solidFill>
                <a:latin typeface="Arial"/>
              </a:rPr>
              <a:t> und als </a:t>
            </a:r>
            <a:r>
              <a:rPr sz="2300" b="1">
                <a:solidFill>
                  <a:srgbClr val="1D1D1D"/>
                </a:solidFill>
                <a:latin typeface="Arial"/>
              </a:rPr>
              <a:t>Webseite (HTML)</a:t>
            </a:r>
          </a:p>
        </p:txBody>
      </p:sp>
      <p:sp>
        <p:nvSpPr>
          <p:cNvPr id="6" name="TextBox 5"/>
          <p:cNvSpPr txBox="1"/>
          <p:nvPr/>
        </p:nvSpPr>
        <p:spPr>
          <a:xfrm>
            <a:off x="640080" y="6446520"/>
            <a:ext cx="8229600" cy="274320"/>
          </a:xfrm>
          <a:prstGeom prst="rect">
            <a:avLst/>
          </a:prstGeom>
          <a:noFill/>
        </p:spPr>
        <p:txBody>
          <a:bodyPr wrap="square" anchor="t" lIns="45720" rIns="45720">
            <a:spAutoFit/>
          </a:bodyPr>
          <a:lstStyle/>
          <a:p>
            <a:r>
              <a:rPr sz="1100" b="0">
                <a:solidFill>
                  <a:srgbClr val="555555"/>
                </a:solidFill>
                <a:latin typeface="Arial"/>
              </a:rPr>
              <a:t>NOMAD – deutsche Fassung (inoffiziell, Apache-2.0)</a:t>
            </a:r>
          </a:p>
        </p:txBody>
      </p:sp>
      <p:sp>
        <p:nvSpPr>
          <p:cNvPr id="7" name="TextBox 6"/>
          <p:cNvSpPr txBox="1"/>
          <p:nvPr/>
        </p:nvSpPr>
        <p:spPr>
          <a:xfrm>
            <a:off x="10881360" y="6446520"/>
            <a:ext cx="914400" cy="274320"/>
          </a:xfrm>
          <a:prstGeom prst="rect">
            <a:avLst/>
          </a:prstGeom>
          <a:noFill/>
        </p:spPr>
        <p:txBody>
          <a:bodyPr wrap="square" anchor="t" lIns="45720" rIns="45720">
            <a:spAutoFit/>
          </a:bodyPr>
          <a:lstStyle/>
          <a:p>
            <a:pPr algn="r"/>
            <a:r>
              <a:rPr sz="1100" b="0">
                <a:solidFill>
                  <a:srgbClr val="555555"/>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56032" cy="6858000"/>
          </a:xfrm>
          <a:prstGeom prst="rect">
            <a:avLst/>
          </a:prstGeom>
          <a:solidFill>
            <a:srgbClr val="3B4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972800" cy="914400"/>
          </a:xfrm>
          <a:prstGeom prst="rect">
            <a:avLst/>
          </a:prstGeom>
          <a:noFill/>
        </p:spPr>
        <p:txBody>
          <a:bodyPr wrap="square" anchor="ctr" lIns="45720" rIns="45720">
            <a:spAutoFit/>
          </a:bodyPr>
          <a:lstStyle/>
          <a:p>
            <a:r>
              <a:rPr sz="3400" b="1">
                <a:solidFill>
                  <a:srgbClr val="3B4021"/>
                </a:solidFill>
                <a:latin typeface="Arial"/>
              </a:rPr>
              <a:t>Die Notfall-KI</a:t>
            </a:r>
          </a:p>
        </p:txBody>
      </p:sp>
      <p:pic>
        <p:nvPicPr>
          <p:cNvPr id="4" name="Picture 3" descr="ki.jpg"/>
          <p:cNvPicPr>
            <a:picLocks noChangeAspect="1"/>
          </p:cNvPicPr>
          <p:nvPr/>
        </p:nvPicPr>
        <p:blipFill>
          <a:blip r:embed="rId2"/>
          <a:stretch>
            <a:fillRect/>
          </a:stretch>
        </p:blipFill>
        <p:spPr>
          <a:xfrm>
            <a:off x="640079" y="2018211"/>
            <a:ext cx="6217920" cy="3553097"/>
          </a:xfrm>
          <a:prstGeom prst="rect">
            <a:avLst/>
          </a:prstGeom>
        </p:spPr>
      </p:pic>
      <p:sp>
        <p:nvSpPr>
          <p:cNvPr id="5" name="TextBox 4"/>
          <p:cNvSpPr txBox="1"/>
          <p:nvPr/>
        </p:nvSpPr>
        <p:spPr>
          <a:xfrm>
            <a:off x="7223760" y="1600200"/>
            <a:ext cx="4480560" cy="4480560"/>
          </a:xfrm>
          <a:prstGeom prst="rect">
            <a:avLst/>
          </a:prstGeom>
          <a:noFill/>
        </p:spPr>
        <p:txBody>
          <a:bodyPr wrap="square" anchor="ctr" lIns="45720" rIns="45720">
            <a:spAutoFit/>
          </a:bodyPr>
          <a:lstStyle/>
          <a:p>
            <a:pPr>
              <a:spcAft>
                <a:spcPts val="1000"/>
              </a:spcAft>
            </a:pPr>
            <a:r>
              <a:rPr sz="2300" b="0">
                <a:solidFill>
                  <a:srgbClr val="1D1D1D"/>
                </a:solidFill>
                <a:latin typeface="Arial"/>
              </a:rPr>
              <a:t>•  Läuft </a:t>
            </a:r>
            <a:r>
              <a:rPr sz="2300" b="1">
                <a:solidFill>
                  <a:srgbClr val="1D1D1D"/>
                </a:solidFill>
                <a:latin typeface="Arial"/>
              </a:rPr>
              <a:t>auf Ihrem Rechner</a:t>
            </a:r>
            <a:r>
              <a:rPr sz="2300" b="0">
                <a:solidFill>
                  <a:srgbClr val="1D1D1D"/>
                </a:solidFill>
                <a:latin typeface="Arial"/>
              </a:rPr>
              <a:t>, ohne Internet</a:t>
            </a:r>
          </a:p>
          <a:p>
            <a:pPr>
              <a:spcAft>
                <a:spcPts val="1000"/>
              </a:spcAft>
            </a:pPr>
            <a:r>
              <a:rPr sz="2300" b="0">
                <a:solidFill>
                  <a:srgbClr val="1D1D1D"/>
                </a:solidFill>
                <a:latin typeface="Arial"/>
              </a:rPr>
              <a:t>•  Antwortet auf Fragen in ganzen Sätzen</a:t>
            </a:r>
          </a:p>
          <a:p>
            <a:pPr>
              <a:spcAft>
                <a:spcPts val="1000"/>
              </a:spcAft>
            </a:pPr>
            <a:r>
              <a:rPr sz="2300" b="0">
                <a:solidFill>
                  <a:srgbClr val="1D1D1D"/>
                </a:solidFill>
                <a:latin typeface="Arial"/>
              </a:rPr>
              <a:t>•  Kann Ihre Dokumente und geladene Nachschlagewerke heranziehen</a:t>
            </a:r>
          </a:p>
          <a:p>
            <a:pPr>
              <a:spcAft>
                <a:spcPts val="1000"/>
              </a:spcAft>
            </a:pPr>
            <a:r>
              <a:rPr sz="2300" b="0">
                <a:solidFill>
                  <a:srgbClr val="1D1D1D"/>
                </a:solidFill>
                <a:latin typeface="Arial"/>
              </a:rPr>
              <a:t>•  Braucht Platz, Arbeitsspeicher und Geduld</a:t>
            </a:r>
          </a:p>
        </p:txBody>
      </p:sp>
      <p:sp>
        <p:nvSpPr>
          <p:cNvPr id="6" name="TextBox 5"/>
          <p:cNvSpPr txBox="1"/>
          <p:nvPr/>
        </p:nvSpPr>
        <p:spPr>
          <a:xfrm>
            <a:off x="640080" y="6446520"/>
            <a:ext cx="8229600" cy="274320"/>
          </a:xfrm>
          <a:prstGeom prst="rect">
            <a:avLst/>
          </a:prstGeom>
          <a:noFill/>
        </p:spPr>
        <p:txBody>
          <a:bodyPr wrap="square" anchor="t" lIns="45720" rIns="45720">
            <a:spAutoFit/>
          </a:bodyPr>
          <a:lstStyle/>
          <a:p>
            <a:r>
              <a:rPr sz="1100" b="0">
                <a:solidFill>
                  <a:srgbClr val="555555"/>
                </a:solidFill>
                <a:latin typeface="Arial"/>
              </a:rPr>
              <a:t>NOMAD – deutsche Fassung (inoffiziell, Apache-2.0)</a:t>
            </a:r>
          </a:p>
        </p:txBody>
      </p:sp>
      <p:sp>
        <p:nvSpPr>
          <p:cNvPr id="7" name="TextBox 6"/>
          <p:cNvSpPr txBox="1"/>
          <p:nvPr/>
        </p:nvSpPr>
        <p:spPr>
          <a:xfrm>
            <a:off x="10881360" y="6446520"/>
            <a:ext cx="914400" cy="274320"/>
          </a:xfrm>
          <a:prstGeom prst="rect">
            <a:avLst/>
          </a:prstGeom>
          <a:noFill/>
        </p:spPr>
        <p:txBody>
          <a:bodyPr wrap="square" anchor="t" lIns="45720" rIns="45720">
            <a:spAutoFit/>
          </a:bodyPr>
          <a:lstStyle/>
          <a:p>
            <a:pPr algn="r"/>
            <a:r>
              <a:rPr sz="1100" b="0">
                <a:solidFill>
                  <a:srgbClr val="555555"/>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56032" cy="6858000"/>
          </a:xfrm>
          <a:prstGeom prst="rect">
            <a:avLst/>
          </a:prstGeom>
          <a:solidFill>
            <a:srgbClr val="3B4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972800" cy="914400"/>
          </a:xfrm>
          <a:prstGeom prst="rect">
            <a:avLst/>
          </a:prstGeom>
          <a:noFill/>
        </p:spPr>
        <p:txBody>
          <a:bodyPr wrap="square" anchor="ctr" lIns="45720" rIns="45720">
            <a:spAutoFit/>
          </a:bodyPr>
          <a:lstStyle/>
          <a:p>
            <a:r>
              <a:rPr sz="3400" b="1">
                <a:solidFill>
                  <a:srgbClr val="3B4021"/>
                </a:solidFill>
                <a:latin typeface="Arial"/>
              </a:rPr>
              <a:t>Wie schnell? Zahlen aus unserem Test</a:t>
            </a:r>
          </a:p>
        </p:txBody>
      </p:sp>
      <p:graphicFrame>
        <p:nvGraphicFramePr>
          <p:cNvPr id="4" name="Table 3"/>
          <p:cNvGraphicFramePr>
            <a:graphicFrameLocks noGrp="1"/>
          </p:cNvGraphicFramePr>
          <p:nvPr/>
        </p:nvGraphicFramePr>
        <p:xfrm>
          <a:off x="822960" y="1554480"/>
          <a:ext cx="10515600" cy="3429000"/>
        </p:xfrm>
        <a:graphic>
          <a:graphicData uri="http://schemas.openxmlformats.org/drawingml/2006/table">
            <a:tbl>
              <a:tblPr firstRow="1" bandRow="1">
                <a:tableStyleId>{5C22544A-7EE6-4342-B048-85BDC9FD1C3A}</a:tableStyleId>
              </a:tblPr>
              <a:tblGrid>
                <a:gridCol w="3566160"/>
                <a:gridCol w="3931920"/>
                <a:gridCol w="3017520"/>
              </a:tblGrid>
              <a:tr h="685800">
                <a:tc>
                  <a:txBody>
                    <a:bodyPr/>
                    <a:lstStyle/>
                    <a:p>
                      <a:r>
                        <a:rPr sz="2000" b="1">
                          <a:solidFill>
                            <a:srgbClr val="FFFFFF"/>
                          </a:solidFill>
                          <a:latin typeface="Arial"/>
                        </a:rPr>
                        <a:t>Messung</a:t>
                      </a:r>
                    </a:p>
                  </a:txBody>
                  <a:tcPr>
                    <a:solidFill>
                      <a:srgbClr val="3B4021"/>
                    </a:solidFill>
                  </a:tcPr>
                </a:tc>
                <a:tc>
                  <a:txBody>
                    <a:bodyPr/>
                    <a:lstStyle/>
                    <a:p>
                      <a:r>
                        <a:rPr sz="2000" b="1">
                          <a:solidFill>
                            <a:srgbClr val="FFFFFF"/>
                          </a:solidFill>
                          <a:latin typeface="Arial"/>
                        </a:rPr>
                        <a:t>Nur Prozessor</a:t>
                      </a:r>
                    </a:p>
                  </a:txBody>
                  <a:tcPr>
                    <a:solidFill>
                      <a:srgbClr val="3B4021"/>
                    </a:solidFill>
                  </a:tcPr>
                </a:tc>
                <a:tc>
                  <a:txBody>
                    <a:bodyPr/>
                    <a:lstStyle/>
                    <a:p>
                      <a:r>
                        <a:rPr sz="2000" b="1">
                          <a:solidFill>
                            <a:srgbClr val="FFFFFF"/>
                          </a:solidFill>
                          <a:latin typeface="Arial"/>
                        </a:rPr>
                        <a:t>Mit Grafikkarte</a:t>
                      </a:r>
                    </a:p>
                  </a:txBody>
                  <a:tcPr>
                    <a:solidFill>
                      <a:srgbClr val="3B4021"/>
                    </a:solidFill>
                  </a:tcPr>
                </a:tc>
              </a:tr>
              <a:tr h="685800">
                <a:tc>
                  <a:txBody>
                    <a:bodyPr/>
                    <a:lstStyle/>
                    <a:p>
                      <a:r>
                        <a:rPr sz="1900" b="1">
                          <a:solidFill>
                            <a:srgbClr val="1D1D1D"/>
                          </a:solidFill>
                          <a:latin typeface="Arial"/>
                        </a:rPr>
                        <a:t>Antwort (Modell gemma4:e4b)</a:t>
                      </a:r>
                    </a:p>
                  </a:txBody>
                  <a:tcPr>
                    <a:solidFill>
                      <a:srgbClr val="F4EDD8"/>
                    </a:solidFill>
                  </a:tcPr>
                </a:tc>
                <a:tc>
                  <a:txBody>
                    <a:bodyPr/>
                    <a:lstStyle/>
                    <a:p>
                      <a:r>
                        <a:rPr sz="1900" b="0">
                          <a:solidFill>
                            <a:srgbClr val="1D1D1D"/>
                          </a:solidFill>
                          <a:latin typeface="Arial"/>
                        </a:rPr>
                        <a:t>14 Token/s</a:t>
                      </a:r>
                    </a:p>
                  </a:txBody>
                  <a:tcPr>
                    <a:solidFill>
                      <a:srgbClr val="F4EDD8"/>
                    </a:solidFill>
                  </a:tcPr>
                </a:tc>
                <a:tc>
                  <a:txBody>
                    <a:bodyPr/>
                    <a:lstStyle/>
                    <a:p>
                      <a:r>
                        <a:rPr sz="1900" b="0">
                          <a:solidFill>
                            <a:srgbClr val="1D1D1D"/>
                          </a:solidFill>
                          <a:latin typeface="Arial"/>
                        </a:rPr>
                        <a:t>106 Token/s</a:t>
                      </a:r>
                    </a:p>
                  </a:txBody>
                  <a:tcPr>
                    <a:solidFill>
                      <a:srgbClr val="F4EDD8"/>
                    </a:solidFill>
                  </a:tcPr>
                </a:tc>
              </a:tr>
              <a:tr h="685800">
                <a:tc>
                  <a:txBody>
                    <a:bodyPr/>
                    <a:lstStyle/>
                    <a:p>
                      <a:r>
                        <a:rPr sz="1900" b="1">
                          <a:solidFill>
                            <a:srgbClr val="1D1D1D"/>
                          </a:solidFill>
                          <a:latin typeface="Arial"/>
                        </a:rPr>
                        <a:t>Kontext lesen</a:t>
                      </a:r>
                    </a:p>
                  </a:txBody>
                  <a:tcPr>
                    <a:solidFill>
                      <a:srgbClr val="FFFFFF"/>
                    </a:solidFill>
                  </a:tcPr>
                </a:tc>
                <a:tc>
                  <a:txBody>
                    <a:bodyPr/>
                    <a:lstStyle/>
                    <a:p>
                      <a:r>
                        <a:rPr sz="1900" b="0">
                          <a:solidFill>
                            <a:srgbClr val="1D1D1D"/>
                          </a:solidFill>
                          <a:latin typeface="Arial"/>
                        </a:rPr>
                        <a:t>50 Token/s</a:t>
                      </a:r>
                    </a:p>
                  </a:txBody>
                  <a:tcPr>
                    <a:solidFill>
                      <a:srgbClr val="FFFFFF"/>
                    </a:solidFill>
                  </a:tcPr>
                </a:tc>
                <a:tc>
                  <a:txBody>
                    <a:bodyPr/>
                    <a:lstStyle/>
                    <a:p>
                      <a:r>
                        <a:rPr sz="1900" b="0">
                          <a:solidFill>
                            <a:srgbClr val="1D1D1D"/>
                          </a:solidFill>
                          <a:latin typeface="Arial"/>
                        </a:rPr>
                        <a:t>2700 Token/s</a:t>
                      </a:r>
                    </a:p>
                  </a:txBody>
                  <a:tcPr>
                    <a:solidFill>
                      <a:srgbClr val="FFFFFF"/>
                    </a:solidFill>
                  </a:tcPr>
                </a:tc>
              </a:tr>
              <a:tr h="685800">
                <a:tc>
                  <a:txBody>
                    <a:bodyPr/>
                    <a:lstStyle/>
                    <a:p>
                      <a:r>
                        <a:rPr sz="1900" b="1">
                          <a:solidFill>
                            <a:srgbClr val="1D1D1D"/>
                          </a:solidFill>
                          <a:latin typeface="Arial"/>
                        </a:rPr>
                        <a:t>Handbuch „CDC“ (178 MB) durchsuchbar machen</a:t>
                      </a:r>
                    </a:p>
                  </a:txBody>
                  <a:tcPr>
                    <a:solidFill>
                      <a:srgbClr val="F4EDD8"/>
                    </a:solidFill>
                  </a:tcPr>
                </a:tc>
                <a:tc>
                  <a:txBody>
                    <a:bodyPr/>
                    <a:lstStyle/>
                    <a:p>
                      <a:r>
                        <a:rPr sz="1900" b="0">
                          <a:solidFill>
                            <a:srgbClr val="1D1D1D"/>
                          </a:solidFill>
                          <a:latin typeface="Arial"/>
                        </a:rPr>
                        <a:t>ca. 3 Stunden*</a:t>
                      </a:r>
                    </a:p>
                  </a:txBody>
                  <a:tcPr>
                    <a:solidFill>
                      <a:srgbClr val="F4EDD8"/>
                    </a:solidFill>
                  </a:tcPr>
                </a:tc>
                <a:tc>
                  <a:txBody>
                    <a:bodyPr/>
                    <a:lstStyle/>
                    <a:p>
                      <a:r>
                        <a:rPr sz="1900" b="0">
                          <a:solidFill>
                            <a:srgbClr val="1D1D1D"/>
                          </a:solidFill>
                          <a:latin typeface="Arial"/>
                        </a:rPr>
                        <a:t>7,5 Minuten</a:t>
                      </a:r>
                    </a:p>
                  </a:txBody>
                  <a:tcPr>
                    <a:solidFill>
                      <a:srgbClr val="F4EDD8"/>
                    </a:solidFill>
                  </a:tcPr>
                </a:tc>
              </a:tr>
              <a:tr h="685800">
                <a:tc>
                  <a:txBody>
                    <a:bodyPr/>
                    <a:lstStyle/>
                    <a:p>
                      <a:r>
                        <a:rPr sz="1900" b="1">
                          <a:solidFill>
                            <a:srgbClr val="1D1D1D"/>
                          </a:solidFill>
                          <a:latin typeface="Arial"/>
                        </a:rPr>
                        <a:t>Empfehlung</a:t>
                      </a:r>
                    </a:p>
                  </a:txBody>
                  <a:tcPr>
                    <a:solidFill>
                      <a:srgbClr val="FFFFFF"/>
                    </a:solidFill>
                  </a:tcPr>
                </a:tc>
                <a:tc>
                  <a:txBody>
                    <a:bodyPr/>
                    <a:lstStyle/>
                    <a:p>
                      <a:r>
                        <a:rPr sz="1900" b="0">
                          <a:solidFill>
                            <a:srgbClr val="1D1D1D"/>
                          </a:solidFill>
                          <a:latin typeface="Arial"/>
                        </a:rPr>
                        <a:t>ab 16 GB Arbeitsspeicher</a:t>
                      </a:r>
                    </a:p>
                  </a:txBody>
                  <a:tcPr>
                    <a:solidFill>
                      <a:srgbClr val="FFFFFF"/>
                    </a:solidFill>
                  </a:tcPr>
                </a:tc>
                <a:tc>
                  <a:txBody>
                    <a:bodyPr/>
                    <a:lstStyle/>
                    <a:p>
                      <a:r>
                        <a:rPr sz="1900" b="0">
                          <a:solidFill>
                            <a:srgbClr val="1D1D1D"/>
                          </a:solidFill>
                          <a:latin typeface="Arial"/>
                        </a:rPr>
                        <a:t>NVIDIA-Karte ab 8 GB</a:t>
                      </a:r>
                    </a:p>
                  </a:txBody>
                  <a:tcPr>
                    <a:solidFill>
                      <a:srgbClr val="FFFFFF"/>
                    </a:solidFill>
                  </a:tcPr>
                </a:tc>
              </a:tr>
            </a:tbl>
          </a:graphicData>
        </a:graphic>
      </p:graphicFrame>
      <p:sp>
        <p:nvSpPr>
          <p:cNvPr id="5" name="TextBox 4"/>
          <p:cNvSpPr txBox="1"/>
          <p:nvPr/>
        </p:nvSpPr>
        <p:spPr>
          <a:xfrm>
            <a:off x="822960" y="5257800"/>
            <a:ext cx="10515600" cy="457200"/>
          </a:xfrm>
          <a:prstGeom prst="rect">
            <a:avLst/>
          </a:prstGeom>
          <a:noFill/>
        </p:spPr>
        <p:txBody>
          <a:bodyPr wrap="square" anchor="t" lIns="45720" rIns="45720">
            <a:spAutoFit/>
          </a:bodyPr>
          <a:lstStyle/>
          <a:p>
            <a:r>
              <a:rPr sz="1500" b="0">
                <a:solidFill>
                  <a:srgbClr val="555555"/>
                </a:solidFill>
                <a:latin typeface="Arial"/>
              </a:rPr>
              <a:t>* alter Rechner, 4 Kerne, 8 GB; moderner Rechner etwa 3-mal schneller</a:t>
            </a:r>
          </a:p>
        </p:txBody>
      </p:sp>
      <p:sp>
        <p:nvSpPr>
          <p:cNvPr id="6" name="TextBox 5"/>
          <p:cNvSpPr txBox="1"/>
          <p:nvPr/>
        </p:nvSpPr>
        <p:spPr>
          <a:xfrm>
            <a:off x="640080" y="6446520"/>
            <a:ext cx="8229600" cy="274320"/>
          </a:xfrm>
          <a:prstGeom prst="rect">
            <a:avLst/>
          </a:prstGeom>
          <a:noFill/>
        </p:spPr>
        <p:txBody>
          <a:bodyPr wrap="square" anchor="t" lIns="45720" rIns="45720">
            <a:spAutoFit/>
          </a:bodyPr>
          <a:lstStyle/>
          <a:p>
            <a:r>
              <a:rPr sz="1100" b="0">
                <a:solidFill>
                  <a:srgbClr val="555555"/>
                </a:solidFill>
                <a:latin typeface="Arial"/>
              </a:rPr>
              <a:t>NOMAD – deutsche Fassung (inoffiziell, Apache-2.0)</a:t>
            </a:r>
          </a:p>
        </p:txBody>
      </p:sp>
      <p:sp>
        <p:nvSpPr>
          <p:cNvPr id="7" name="TextBox 6"/>
          <p:cNvSpPr txBox="1"/>
          <p:nvPr/>
        </p:nvSpPr>
        <p:spPr>
          <a:xfrm>
            <a:off x="10881360" y="6446520"/>
            <a:ext cx="914400" cy="274320"/>
          </a:xfrm>
          <a:prstGeom prst="rect">
            <a:avLst/>
          </a:prstGeom>
          <a:noFill/>
        </p:spPr>
        <p:txBody>
          <a:bodyPr wrap="square" anchor="t" lIns="45720" rIns="45720">
            <a:spAutoFit/>
          </a:bodyPr>
          <a:lstStyle/>
          <a:p>
            <a:pPr algn="r"/>
            <a:r>
              <a:rPr sz="1100" b="0">
                <a:solidFill>
                  <a:srgbClr val="555555"/>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56032" cy="6858000"/>
          </a:xfrm>
          <a:prstGeom prst="rect">
            <a:avLst/>
          </a:prstGeom>
          <a:solidFill>
            <a:srgbClr val="9B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972800" cy="914400"/>
          </a:xfrm>
          <a:prstGeom prst="rect">
            <a:avLst/>
          </a:prstGeom>
          <a:noFill/>
        </p:spPr>
        <p:txBody>
          <a:bodyPr wrap="square" anchor="ctr" lIns="45720" rIns="45720">
            <a:spAutoFit/>
          </a:bodyPr>
          <a:lstStyle/>
          <a:p>
            <a:r>
              <a:rPr sz="3400" b="1">
                <a:solidFill>
                  <a:srgbClr val="9B1C1C"/>
                </a:solidFill>
                <a:latin typeface="Arial"/>
              </a:rPr>
              <a:t>Vorsicht: Die KI kann irren</a:t>
            </a:r>
          </a:p>
        </p:txBody>
      </p:sp>
      <p:pic>
        <p:nvPicPr>
          <p:cNvPr id="4" name="Picture 3" descr="fragen.jpg"/>
          <p:cNvPicPr>
            <a:picLocks noChangeAspect="1"/>
          </p:cNvPicPr>
          <p:nvPr/>
        </p:nvPicPr>
        <p:blipFill>
          <a:blip r:embed="rId2"/>
          <a:stretch>
            <a:fillRect/>
          </a:stretch>
        </p:blipFill>
        <p:spPr>
          <a:xfrm>
            <a:off x="640079" y="2018211"/>
            <a:ext cx="6217920" cy="3553097"/>
          </a:xfrm>
          <a:prstGeom prst="rect">
            <a:avLst/>
          </a:prstGeom>
        </p:spPr>
      </p:pic>
      <p:sp>
        <p:nvSpPr>
          <p:cNvPr id="5" name="Rounded Rectangle 4"/>
          <p:cNvSpPr/>
          <p:nvPr/>
        </p:nvSpPr>
        <p:spPr>
          <a:xfrm>
            <a:off x="7086600" y="1463040"/>
            <a:ext cx="4754880" cy="4754880"/>
          </a:xfrm>
          <a:prstGeom prst="roundRect">
            <a:avLst>
              <a:gd name="adj" fmla="val 4000"/>
            </a:avLst>
          </a:prstGeom>
          <a:solidFill>
            <a:srgbClr val="FBEEEE"/>
          </a:solidFill>
          <a:ln w="25400">
            <a:solidFill>
              <a:srgbClr val="9B1C1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23760" y="1600200"/>
            <a:ext cx="4480560" cy="4480560"/>
          </a:xfrm>
          <a:prstGeom prst="rect">
            <a:avLst/>
          </a:prstGeom>
          <a:noFill/>
        </p:spPr>
        <p:txBody>
          <a:bodyPr wrap="square" anchor="ctr" lIns="45720" rIns="45720">
            <a:spAutoFit/>
          </a:bodyPr>
          <a:lstStyle/>
          <a:p>
            <a:pPr>
              <a:spcAft>
                <a:spcPts val="1000"/>
              </a:spcAft>
            </a:pPr>
            <a:r>
              <a:rPr sz="2300" b="0">
                <a:solidFill>
                  <a:srgbClr val="1D1D1D"/>
                </a:solidFill>
                <a:latin typeface="Arial"/>
              </a:rPr>
              <a:t>•  Kleine Modelle erfinden Antworten, </a:t>
            </a:r>
            <a:r>
              <a:rPr sz="2300" b="1">
                <a:solidFill>
                  <a:srgbClr val="1D1D1D"/>
                </a:solidFill>
                <a:latin typeface="Arial"/>
              </a:rPr>
              <a:t>auch mit Quellenangabe</a:t>
            </a:r>
          </a:p>
          <a:p>
            <a:pPr>
              <a:spcAft>
                <a:spcPts val="1000"/>
              </a:spcAft>
            </a:pPr>
            <a:r>
              <a:rPr sz="2300" b="0">
                <a:solidFill>
                  <a:srgbClr val="1D1D1D"/>
                </a:solidFill>
                <a:latin typeface="Arial"/>
              </a:rPr>
              <a:t>•  Ein 1,7-Milliarden-Modell riet in unserem Test zu gefährlichem Unsinn bei Erster Hilfe</a:t>
            </a:r>
          </a:p>
          <a:p>
            <a:pPr>
              <a:spcAft>
                <a:spcPts val="1000"/>
              </a:spcAft>
            </a:pPr>
            <a:r>
              <a:rPr sz="2300" b="0">
                <a:solidFill>
                  <a:srgbClr val="1D1D1D"/>
                </a:solidFill>
                <a:latin typeface="Arial"/>
              </a:rPr>
              <a:t>•  Bei Medizin, Sicherheit, Recht: </a:t>
            </a:r>
            <a:r>
              <a:rPr sz="2300" b="1">
                <a:solidFill>
                  <a:srgbClr val="1D1D1D"/>
                </a:solidFill>
                <a:latin typeface="Arial"/>
              </a:rPr>
              <a:t>immer an der Quelle prüfen</a:t>
            </a:r>
          </a:p>
          <a:p>
            <a:pPr>
              <a:spcAft>
                <a:spcPts val="1000"/>
              </a:spcAft>
            </a:pPr>
            <a:r>
              <a:rPr sz="2300" b="0">
                <a:solidFill>
                  <a:srgbClr val="1D1D1D"/>
                </a:solidFill>
                <a:latin typeface="Arial"/>
              </a:rPr>
              <a:t>•  Die KI ist ein Helfer zum Suchen, </a:t>
            </a:r>
            <a:r>
              <a:rPr sz="2300" b="1">
                <a:solidFill>
                  <a:srgbClr val="1D1D1D"/>
                </a:solidFill>
                <a:latin typeface="Arial"/>
              </a:rPr>
              <a:t>kein Arzt</a:t>
            </a:r>
          </a:p>
        </p:txBody>
      </p:sp>
      <p:sp>
        <p:nvSpPr>
          <p:cNvPr id="7" name="TextBox 6"/>
          <p:cNvSpPr txBox="1"/>
          <p:nvPr/>
        </p:nvSpPr>
        <p:spPr>
          <a:xfrm>
            <a:off x="640080" y="6446520"/>
            <a:ext cx="8229600" cy="274320"/>
          </a:xfrm>
          <a:prstGeom prst="rect">
            <a:avLst/>
          </a:prstGeom>
          <a:noFill/>
        </p:spPr>
        <p:txBody>
          <a:bodyPr wrap="square" anchor="t" lIns="45720" rIns="45720">
            <a:spAutoFit/>
          </a:bodyPr>
          <a:lstStyle/>
          <a:p>
            <a:r>
              <a:rPr sz="1100" b="0">
                <a:solidFill>
                  <a:srgbClr val="555555"/>
                </a:solidFill>
                <a:latin typeface="Arial"/>
              </a:rPr>
              <a:t>NOMAD – deutsche Fassung (inoffiziell, Apache-2.0)</a:t>
            </a:r>
          </a:p>
        </p:txBody>
      </p:sp>
      <p:sp>
        <p:nvSpPr>
          <p:cNvPr id="8" name="TextBox 7"/>
          <p:cNvSpPr txBox="1"/>
          <p:nvPr/>
        </p:nvSpPr>
        <p:spPr>
          <a:xfrm>
            <a:off x="10881360" y="6446520"/>
            <a:ext cx="914400" cy="274320"/>
          </a:xfrm>
          <a:prstGeom prst="rect">
            <a:avLst/>
          </a:prstGeom>
          <a:noFill/>
        </p:spPr>
        <p:txBody>
          <a:bodyPr wrap="square" anchor="t" lIns="45720" rIns="45720">
            <a:spAutoFit/>
          </a:bodyPr>
          <a:lstStyle/>
          <a:p>
            <a:pPr algn="r"/>
            <a:r>
              <a:rPr sz="1100" b="0">
                <a:solidFill>
                  <a:srgbClr val="555555"/>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56032" cy="6858000"/>
          </a:xfrm>
          <a:prstGeom prst="rect">
            <a:avLst/>
          </a:prstGeom>
          <a:solidFill>
            <a:srgbClr val="3B4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972800" cy="914400"/>
          </a:xfrm>
          <a:prstGeom prst="rect">
            <a:avLst/>
          </a:prstGeom>
          <a:noFill/>
        </p:spPr>
        <p:txBody>
          <a:bodyPr wrap="square" anchor="ctr" lIns="45720" rIns="45720">
            <a:spAutoFit/>
          </a:bodyPr>
          <a:lstStyle/>
          <a:p>
            <a:r>
              <a:rPr sz="3400" b="1">
                <a:solidFill>
                  <a:srgbClr val="3B4021"/>
                </a:solidFill>
                <a:latin typeface="Arial"/>
              </a:rPr>
              <a:t>Der Stand heute</a:t>
            </a:r>
          </a:p>
        </p:txBody>
      </p:sp>
      <p:sp>
        <p:nvSpPr>
          <p:cNvPr id="4" name="TextBox 3"/>
          <p:cNvSpPr txBox="1"/>
          <p:nvPr/>
        </p:nvSpPr>
        <p:spPr>
          <a:xfrm>
            <a:off x="822960" y="1554480"/>
            <a:ext cx="10607040" cy="4572000"/>
          </a:xfrm>
          <a:prstGeom prst="rect">
            <a:avLst/>
          </a:prstGeom>
          <a:noFill/>
        </p:spPr>
        <p:txBody>
          <a:bodyPr wrap="square" anchor="ctr" lIns="45720" rIns="45720">
            <a:spAutoFit/>
          </a:bodyPr>
          <a:lstStyle/>
          <a:p>
            <a:pPr>
              <a:spcAft>
                <a:spcPts val="1400"/>
              </a:spcAft>
            </a:pPr>
            <a:r>
              <a:rPr sz="2400" b="0">
                <a:solidFill>
                  <a:srgbClr val="1D1D1D"/>
                </a:solidFill>
                <a:latin typeface="Arial"/>
              </a:rPr>
              <a:t>•  Version </a:t>
            </a:r>
            <a:r>
              <a:rPr sz="2400" b="1">
                <a:solidFill>
                  <a:srgbClr val="1D1D1D"/>
                </a:solidFill>
                <a:latin typeface="Arial"/>
              </a:rPr>
              <a:t>1.35.2</a:t>
            </a:r>
            <a:r>
              <a:rPr sz="2400" b="0">
                <a:solidFill>
                  <a:srgbClr val="1D1D1D"/>
                </a:solidFill>
                <a:latin typeface="Arial"/>
              </a:rPr>
              <a:t> veröffentlicht</a:t>
            </a:r>
          </a:p>
          <a:p>
            <a:pPr>
              <a:spcAft>
                <a:spcPts val="1400"/>
              </a:spcAft>
            </a:pPr>
            <a:r>
              <a:rPr sz="2400" b="0">
                <a:solidFill>
                  <a:srgbClr val="1D1D1D"/>
                </a:solidFill>
                <a:latin typeface="Arial"/>
              </a:rPr>
              <a:t>•  Oberfläche und Anleitungen: </a:t>
            </a:r>
            <a:r>
              <a:rPr sz="2400" b="1">
                <a:solidFill>
                  <a:srgbClr val="1D1D1D"/>
                </a:solidFill>
                <a:latin typeface="Arial"/>
              </a:rPr>
              <a:t>deutsch</a:t>
            </a:r>
          </a:p>
          <a:p>
            <a:pPr>
              <a:spcAft>
                <a:spcPts val="1400"/>
              </a:spcAft>
            </a:pPr>
            <a:r>
              <a:rPr sz="2400" b="0">
                <a:solidFill>
                  <a:srgbClr val="1D1D1D"/>
                </a:solidFill>
                <a:latin typeface="Arial"/>
              </a:rPr>
              <a:t>•  USB-System gebaut und in der Testumgebung geprüft, auch das Update</a:t>
            </a:r>
          </a:p>
          <a:p>
            <a:pPr>
              <a:spcAft>
                <a:spcPts val="1400"/>
              </a:spcAft>
            </a:pPr>
            <a:r>
              <a:rPr sz="2400" b="0">
                <a:solidFill>
                  <a:srgbClr val="1D1D1D"/>
                </a:solidFill>
                <a:latin typeface="Arial"/>
              </a:rPr>
              <a:t>•  Handbuch und Notfall-Karte fertig, PDF und HTML</a:t>
            </a:r>
          </a:p>
          <a:p>
            <a:pPr>
              <a:spcAft>
                <a:spcPts val="1400"/>
              </a:spcAft>
            </a:pPr>
            <a:r>
              <a:rPr sz="2400" b="0">
                <a:solidFill>
                  <a:srgbClr val="1D1D1D"/>
                </a:solidFill>
                <a:latin typeface="Arial"/>
              </a:rPr>
              <a:t>•  Noch offen: Start an einem </a:t>
            </a:r>
            <a:r>
              <a:rPr sz="2400" b="1">
                <a:solidFill>
                  <a:srgbClr val="1D1D1D"/>
                </a:solidFill>
                <a:latin typeface="Arial"/>
              </a:rPr>
              <a:t>echten Windows-PC</a:t>
            </a:r>
          </a:p>
        </p:txBody>
      </p:sp>
      <p:sp>
        <p:nvSpPr>
          <p:cNvPr id="5" name="TextBox 4"/>
          <p:cNvSpPr txBox="1"/>
          <p:nvPr/>
        </p:nvSpPr>
        <p:spPr>
          <a:xfrm>
            <a:off x="640080" y="6446520"/>
            <a:ext cx="8229600" cy="274320"/>
          </a:xfrm>
          <a:prstGeom prst="rect">
            <a:avLst/>
          </a:prstGeom>
          <a:noFill/>
        </p:spPr>
        <p:txBody>
          <a:bodyPr wrap="square" anchor="t" lIns="45720" rIns="45720">
            <a:spAutoFit/>
          </a:bodyPr>
          <a:lstStyle/>
          <a:p>
            <a:r>
              <a:rPr sz="1100" b="0">
                <a:solidFill>
                  <a:srgbClr val="555555"/>
                </a:solidFill>
                <a:latin typeface="Arial"/>
              </a:rPr>
              <a:t>NOMAD – deutsche Fassung (inoffiziell, Apache-2.0)</a:t>
            </a:r>
          </a:p>
        </p:txBody>
      </p:sp>
      <p:sp>
        <p:nvSpPr>
          <p:cNvPr id="6" name="TextBox 5"/>
          <p:cNvSpPr txBox="1"/>
          <p:nvPr/>
        </p:nvSpPr>
        <p:spPr>
          <a:xfrm>
            <a:off x="10881360" y="6446520"/>
            <a:ext cx="914400" cy="274320"/>
          </a:xfrm>
          <a:prstGeom prst="rect">
            <a:avLst/>
          </a:prstGeom>
          <a:noFill/>
        </p:spPr>
        <p:txBody>
          <a:bodyPr wrap="square" anchor="t" lIns="45720" rIns="45720">
            <a:spAutoFit/>
          </a:bodyPr>
          <a:lstStyle/>
          <a:p>
            <a:pPr algn="r"/>
            <a:r>
              <a:rPr sz="1100" b="0">
                <a:solidFill>
                  <a:srgbClr val="555555"/>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56032" cy="6858000"/>
          </a:xfrm>
          <a:prstGeom prst="rect">
            <a:avLst/>
          </a:prstGeom>
          <a:solidFill>
            <a:srgbClr val="3B4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972800" cy="914400"/>
          </a:xfrm>
          <a:prstGeom prst="rect">
            <a:avLst/>
          </a:prstGeom>
          <a:noFill/>
        </p:spPr>
        <p:txBody>
          <a:bodyPr wrap="square" anchor="ctr" lIns="45720" rIns="45720">
            <a:spAutoFit/>
          </a:bodyPr>
          <a:lstStyle/>
          <a:p>
            <a:r>
              <a:rPr sz="3400" b="1">
                <a:solidFill>
                  <a:srgbClr val="3B4021"/>
                </a:solidFill>
                <a:latin typeface="Arial"/>
              </a:rPr>
              <a:t>Ehrlich gesagt: Grenzen</a:t>
            </a:r>
          </a:p>
        </p:txBody>
      </p:sp>
      <p:sp>
        <p:nvSpPr>
          <p:cNvPr id="4" name="TextBox 3"/>
          <p:cNvSpPr txBox="1"/>
          <p:nvPr/>
        </p:nvSpPr>
        <p:spPr>
          <a:xfrm>
            <a:off x="822960" y="1554480"/>
            <a:ext cx="10607040" cy="4572000"/>
          </a:xfrm>
          <a:prstGeom prst="rect">
            <a:avLst/>
          </a:prstGeom>
          <a:noFill/>
        </p:spPr>
        <p:txBody>
          <a:bodyPr wrap="square" anchor="ctr" lIns="45720" rIns="45720">
            <a:spAutoFit/>
          </a:bodyPr>
          <a:lstStyle/>
          <a:p>
            <a:pPr>
              <a:spcAft>
                <a:spcPts val="1400"/>
              </a:spcAft>
            </a:pPr>
            <a:r>
              <a:rPr sz="2400" b="0">
                <a:solidFill>
                  <a:srgbClr val="1D1D1D"/>
                </a:solidFill>
                <a:latin typeface="Arial"/>
              </a:rPr>
              <a:t>•  Überleben, Vorsorge und medizinische Nachschlagewerke: bisher nur </a:t>
            </a:r>
            <a:r>
              <a:rPr sz="2400" b="1">
                <a:solidFill>
                  <a:srgbClr val="1D1D1D"/>
                </a:solidFill>
                <a:latin typeface="Arial"/>
              </a:rPr>
              <a:t>englisch</a:t>
            </a:r>
          </a:p>
          <a:p>
            <a:pPr>
              <a:spcAft>
                <a:spcPts val="1400"/>
              </a:spcAft>
            </a:pPr>
            <a:r>
              <a:rPr sz="2400" b="0">
                <a:solidFill>
                  <a:srgbClr val="1D1D1D"/>
                </a:solidFill>
                <a:latin typeface="Arial"/>
              </a:rPr>
              <a:t>•  Die Kartenbeschriftung ist englisch</a:t>
            </a:r>
          </a:p>
          <a:p>
            <a:pPr>
              <a:spcAft>
                <a:spcPts val="1400"/>
              </a:spcAft>
            </a:pPr>
            <a:r>
              <a:rPr sz="2400" b="0">
                <a:solidFill>
                  <a:srgbClr val="1D1D1D"/>
                </a:solidFill>
                <a:latin typeface="Arial"/>
              </a:rPr>
              <a:t>•  Kein Mac, keine ARM-Rechner</a:t>
            </a:r>
          </a:p>
          <a:p>
            <a:pPr>
              <a:spcAft>
                <a:spcPts val="1400"/>
              </a:spcAft>
            </a:pPr>
            <a:r>
              <a:rPr sz="2400" b="0">
                <a:solidFill>
                  <a:srgbClr val="1D1D1D"/>
                </a:solidFill>
                <a:latin typeface="Arial"/>
              </a:rPr>
              <a:t>•  Das Anfangspasswort der USB-SSD ist für alle gleich: bitte ändern</a:t>
            </a:r>
          </a:p>
          <a:p>
            <a:pPr>
              <a:spcAft>
                <a:spcPts val="1400"/>
              </a:spcAft>
            </a:pPr>
            <a:r>
              <a:rPr sz="2400" b="0">
                <a:solidFill>
                  <a:srgbClr val="1D1D1D"/>
                </a:solidFill>
                <a:latin typeface="Arial"/>
              </a:rPr>
              <a:t>•  Nicht alle Nachschlagewerke kann die KI durchsuchen (PDF-Bücher)</a:t>
            </a:r>
          </a:p>
        </p:txBody>
      </p:sp>
      <p:sp>
        <p:nvSpPr>
          <p:cNvPr id="5" name="TextBox 4"/>
          <p:cNvSpPr txBox="1"/>
          <p:nvPr/>
        </p:nvSpPr>
        <p:spPr>
          <a:xfrm>
            <a:off x="640080" y="6446520"/>
            <a:ext cx="8229600" cy="274320"/>
          </a:xfrm>
          <a:prstGeom prst="rect">
            <a:avLst/>
          </a:prstGeom>
          <a:noFill/>
        </p:spPr>
        <p:txBody>
          <a:bodyPr wrap="square" anchor="t" lIns="45720" rIns="45720">
            <a:spAutoFit/>
          </a:bodyPr>
          <a:lstStyle/>
          <a:p>
            <a:r>
              <a:rPr sz="1100" b="0">
                <a:solidFill>
                  <a:srgbClr val="555555"/>
                </a:solidFill>
                <a:latin typeface="Arial"/>
              </a:rPr>
              <a:t>NOMAD – deutsche Fassung (inoffiziell, Apache-2.0)</a:t>
            </a:r>
          </a:p>
        </p:txBody>
      </p:sp>
      <p:sp>
        <p:nvSpPr>
          <p:cNvPr id="6" name="TextBox 5"/>
          <p:cNvSpPr txBox="1"/>
          <p:nvPr/>
        </p:nvSpPr>
        <p:spPr>
          <a:xfrm>
            <a:off x="10881360" y="6446520"/>
            <a:ext cx="914400" cy="274320"/>
          </a:xfrm>
          <a:prstGeom prst="rect">
            <a:avLst/>
          </a:prstGeom>
          <a:noFill/>
        </p:spPr>
        <p:txBody>
          <a:bodyPr wrap="square" anchor="t" lIns="45720" rIns="45720">
            <a:spAutoFit/>
          </a:bodyPr>
          <a:lstStyle/>
          <a:p>
            <a:pPr algn="r"/>
            <a:r>
              <a:rPr sz="1100" b="0">
                <a:solidFill>
                  <a:srgbClr val="555555"/>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56032" cy="6858000"/>
          </a:xfrm>
          <a:prstGeom prst="rect">
            <a:avLst/>
          </a:prstGeom>
          <a:solidFill>
            <a:srgbClr val="3B4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972800" cy="914400"/>
          </a:xfrm>
          <a:prstGeom prst="rect">
            <a:avLst/>
          </a:prstGeom>
          <a:noFill/>
        </p:spPr>
        <p:txBody>
          <a:bodyPr wrap="square" anchor="ctr" lIns="45720" rIns="45720">
            <a:spAutoFit/>
          </a:bodyPr>
          <a:lstStyle/>
          <a:p>
            <a:r>
              <a:rPr sz="3400" b="1">
                <a:solidFill>
                  <a:srgbClr val="3B4021"/>
                </a:solidFill>
                <a:latin typeface="Arial"/>
              </a:rPr>
              <a:t>Häufige Fragen</a:t>
            </a:r>
          </a:p>
        </p:txBody>
      </p:sp>
      <p:sp>
        <p:nvSpPr>
          <p:cNvPr id="4" name="TextBox 3"/>
          <p:cNvSpPr txBox="1"/>
          <p:nvPr/>
        </p:nvSpPr>
        <p:spPr>
          <a:xfrm>
            <a:off x="822960" y="1554480"/>
            <a:ext cx="10607040" cy="4572000"/>
          </a:xfrm>
          <a:prstGeom prst="rect">
            <a:avLst/>
          </a:prstGeom>
          <a:noFill/>
        </p:spPr>
        <p:txBody>
          <a:bodyPr wrap="square" anchor="ctr" lIns="45720" rIns="45720">
            <a:spAutoFit/>
          </a:bodyPr>
          <a:lstStyle/>
          <a:p>
            <a:pPr>
              <a:spcAft>
                <a:spcPts val="1400"/>
              </a:spcAft>
            </a:pPr>
            <a:r>
              <a:rPr sz="2600" b="0">
                <a:solidFill>
                  <a:srgbClr val="1D1D1D"/>
                </a:solidFill>
                <a:latin typeface="Arial"/>
              </a:rPr>
              <a:t>•  </a:t>
            </a:r>
            <a:r>
              <a:rPr sz="2600" b="1">
                <a:solidFill>
                  <a:srgbClr val="1D1D1D"/>
                </a:solidFill>
                <a:latin typeface="Arial"/>
              </a:rPr>
              <a:t>„Muss ich etwas an meinem Windows ändern?“</a:t>
            </a:r>
            <a:r>
              <a:rPr sz="2600" b="0">
                <a:solidFill>
                  <a:srgbClr val="1D1D1D"/>
                </a:solidFill>
                <a:latin typeface="Arial"/>
              </a:rPr>
              <a:t> Nein.</a:t>
            </a:r>
          </a:p>
          <a:p>
            <a:pPr>
              <a:spcAft>
                <a:spcPts val="1400"/>
              </a:spcAft>
            </a:pPr>
            <a:r>
              <a:rPr sz="2600" b="0">
                <a:solidFill>
                  <a:srgbClr val="1D1D1D"/>
                </a:solidFill>
                <a:latin typeface="Arial"/>
              </a:rPr>
              <a:t>•  </a:t>
            </a:r>
            <a:r>
              <a:rPr sz="2600" b="1">
                <a:solidFill>
                  <a:srgbClr val="1D1D1D"/>
                </a:solidFill>
                <a:latin typeface="Arial"/>
              </a:rPr>
              <a:t>„Ist das überhaupt erlaubt?“</a:t>
            </a:r>
            <a:r>
              <a:rPr sz="2600" b="0">
                <a:solidFill>
                  <a:srgbClr val="1D1D1D"/>
                </a:solidFill>
                <a:latin typeface="Arial"/>
              </a:rPr>
              <a:t> Ja, frei nutzbar nach Apache-2.0.</a:t>
            </a:r>
          </a:p>
          <a:p>
            <a:pPr>
              <a:spcAft>
                <a:spcPts val="1400"/>
              </a:spcAft>
            </a:pPr>
            <a:r>
              <a:rPr sz="2600" b="0">
                <a:solidFill>
                  <a:srgbClr val="1D1D1D"/>
                </a:solidFill>
                <a:latin typeface="Arial"/>
              </a:rPr>
              <a:t>•  </a:t>
            </a:r>
            <a:r>
              <a:rPr sz="2600" b="1">
                <a:solidFill>
                  <a:srgbClr val="1D1D1D"/>
                </a:solidFill>
                <a:latin typeface="Arial"/>
              </a:rPr>
              <a:t>„Brauche ich einen neuen Rechner?“</a:t>
            </a:r>
            <a:r>
              <a:rPr sz="2600" b="0">
                <a:solidFill>
                  <a:srgbClr val="1D1D1D"/>
                </a:solidFill>
                <a:latin typeface="Arial"/>
              </a:rPr>
              <a:t> Weg 1 nutzt Ihren vorhandenen PC.</a:t>
            </a:r>
          </a:p>
          <a:p>
            <a:pPr>
              <a:spcAft>
                <a:spcPts val="1400"/>
              </a:spcAft>
            </a:pPr>
            <a:r>
              <a:rPr sz="2600" b="0">
                <a:solidFill>
                  <a:srgbClr val="1D1D1D"/>
                </a:solidFill>
                <a:latin typeface="Arial"/>
              </a:rPr>
              <a:t>•  </a:t>
            </a:r>
            <a:r>
              <a:rPr sz="2600" b="1">
                <a:solidFill>
                  <a:srgbClr val="1D1D1D"/>
                </a:solidFill>
                <a:latin typeface="Arial"/>
              </a:rPr>
              <a:t>„Und wenn das Netz lange wegbleibt?“</a:t>
            </a:r>
            <a:r>
              <a:rPr sz="2600" b="0">
                <a:solidFill>
                  <a:srgbClr val="1D1D1D"/>
                </a:solidFill>
                <a:latin typeface="Arial"/>
              </a:rPr>
              <a:t> Dann bleibt alles nutzbar, solange Strom da ist.</a:t>
            </a:r>
          </a:p>
        </p:txBody>
      </p:sp>
      <p:sp>
        <p:nvSpPr>
          <p:cNvPr id="5" name="TextBox 4"/>
          <p:cNvSpPr txBox="1"/>
          <p:nvPr/>
        </p:nvSpPr>
        <p:spPr>
          <a:xfrm>
            <a:off x="640080" y="6446520"/>
            <a:ext cx="8229600" cy="274320"/>
          </a:xfrm>
          <a:prstGeom prst="rect">
            <a:avLst/>
          </a:prstGeom>
          <a:noFill/>
        </p:spPr>
        <p:txBody>
          <a:bodyPr wrap="square" anchor="t" lIns="45720" rIns="45720">
            <a:spAutoFit/>
          </a:bodyPr>
          <a:lstStyle/>
          <a:p>
            <a:r>
              <a:rPr sz="1100" b="0">
                <a:solidFill>
                  <a:srgbClr val="555555"/>
                </a:solidFill>
                <a:latin typeface="Arial"/>
              </a:rPr>
              <a:t>NOMAD – deutsche Fassung (inoffiziell, Apache-2.0)</a:t>
            </a:r>
          </a:p>
        </p:txBody>
      </p:sp>
      <p:sp>
        <p:nvSpPr>
          <p:cNvPr id="6" name="TextBox 5"/>
          <p:cNvSpPr txBox="1"/>
          <p:nvPr/>
        </p:nvSpPr>
        <p:spPr>
          <a:xfrm>
            <a:off x="10881360" y="6446520"/>
            <a:ext cx="914400" cy="274320"/>
          </a:xfrm>
          <a:prstGeom prst="rect">
            <a:avLst/>
          </a:prstGeom>
          <a:noFill/>
        </p:spPr>
        <p:txBody>
          <a:bodyPr wrap="square" anchor="t" lIns="45720" rIns="45720">
            <a:spAutoFit/>
          </a:bodyPr>
          <a:lstStyle/>
          <a:p>
            <a:pPr algn="r"/>
            <a:r>
              <a:rPr sz="1100" b="0">
                <a:solidFill>
                  <a:srgbClr val="555555"/>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56032" cy="6858000"/>
          </a:xfrm>
          <a:prstGeom prst="rect">
            <a:avLst/>
          </a:prstGeom>
          <a:solidFill>
            <a:srgbClr val="3B4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972800" cy="914400"/>
          </a:xfrm>
          <a:prstGeom prst="rect">
            <a:avLst/>
          </a:prstGeom>
          <a:noFill/>
        </p:spPr>
        <p:txBody>
          <a:bodyPr wrap="square" anchor="ctr" lIns="45720" rIns="45720">
            <a:spAutoFit/>
          </a:bodyPr>
          <a:lstStyle/>
          <a:p>
            <a:r>
              <a:rPr sz="3400" b="1">
                <a:solidFill>
                  <a:srgbClr val="3B4021"/>
                </a:solidFill>
                <a:latin typeface="Arial"/>
              </a:rPr>
              <a:t>Zum Schluss</a:t>
            </a:r>
          </a:p>
        </p:txBody>
      </p:sp>
      <p:pic>
        <p:nvPicPr>
          <p:cNvPr id="4" name="Picture 3" descr="schluss.jpg"/>
          <p:cNvPicPr>
            <a:picLocks noChangeAspect="1"/>
          </p:cNvPicPr>
          <p:nvPr/>
        </p:nvPicPr>
        <p:blipFill>
          <a:blip r:embed="rId2"/>
          <a:stretch>
            <a:fillRect/>
          </a:stretch>
        </p:blipFill>
        <p:spPr>
          <a:xfrm>
            <a:off x="640079" y="2018211"/>
            <a:ext cx="6217920" cy="3553097"/>
          </a:xfrm>
          <a:prstGeom prst="rect">
            <a:avLst/>
          </a:prstGeom>
        </p:spPr>
      </p:pic>
      <p:sp>
        <p:nvSpPr>
          <p:cNvPr id="5" name="TextBox 4"/>
          <p:cNvSpPr txBox="1"/>
          <p:nvPr/>
        </p:nvSpPr>
        <p:spPr>
          <a:xfrm>
            <a:off x="7223760" y="1600200"/>
            <a:ext cx="4480560" cy="4480560"/>
          </a:xfrm>
          <a:prstGeom prst="rect">
            <a:avLst/>
          </a:prstGeom>
          <a:noFill/>
        </p:spPr>
        <p:txBody>
          <a:bodyPr wrap="square" anchor="ctr" lIns="45720" rIns="45720">
            <a:spAutoFit/>
          </a:bodyPr>
          <a:lstStyle/>
          <a:p>
            <a:pPr>
              <a:spcAft>
                <a:spcPts val="1000"/>
              </a:spcAft>
            </a:pPr>
            <a:r>
              <a:rPr sz="2100" b="0">
                <a:solidFill>
                  <a:srgbClr val="1D1D1D"/>
                </a:solidFill>
                <a:latin typeface="Arial"/>
              </a:rPr>
              <a:t>•  Sie brauchen: </a:t>
            </a:r>
            <a:r>
              <a:rPr sz="2100" b="1">
                <a:solidFill>
                  <a:srgbClr val="1D1D1D"/>
                </a:solidFill>
                <a:latin typeface="Arial"/>
              </a:rPr>
              <a:t>Strom, einen PC und einmal ein Netz</a:t>
            </a:r>
          </a:p>
          <a:p>
            <a:pPr>
              <a:spcAft>
                <a:spcPts val="1000"/>
              </a:spcAft>
            </a:pPr>
            <a:r>
              <a:rPr sz="2100" b="0">
                <a:solidFill>
                  <a:srgbClr val="1D1D1D"/>
                </a:solidFill>
                <a:latin typeface="Arial"/>
              </a:rPr>
              <a:t>•  Alles andere bleibt bei Ihnen im Haus</a:t>
            </a:r>
          </a:p>
          <a:p>
            <a:pPr>
              <a:spcAft>
                <a:spcPts val="1000"/>
              </a:spcAft>
            </a:pPr>
            <a:r>
              <a:rPr sz="2100" b="0">
                <a:solidFill>
                  <a:srgbClr val="1D1D1D"/>
                </a:solidFill>
                <a:latin typeface="Arial"/>
              </a:rPr>
              <a:t>•  Quellcode: github.com/huppiflupp/project-nomad-de</a:t>
            </a:r>
          </a:p>
          <a:p>
            <a:pPr>
              <a:spcAft>
                <a:spcPts val="1000"/>
              </a:spcAft>
            </a:pPr>
            <a:r>
              <a:rPr sz="2100" b="0">
                <a:solidFill>
                  <a:srgbClr val="1D1D1D"/>
                </a:solidFill>
                <a:latin typeface="Arial"/>
              </a:rPr>
              <a:t>•  Original: github.com/Crosstalk-Solutions/project-nomad</a:t>
            </a:r>
          </a:p>
          <a:p>
            <a:pPr>
              <a:spcAft>
                <a:spcPts val="1000"/>
              </a:spcAft>
            </a:pPr>
            <a:r>
              <a:rPr sz="2100" b="0">
                <a:solidFill>
                  <a:srgbClr val="1D1D1D"/>
                </a:solidFill>
                <a:latin typeface="Arial"/>
              </a:rPr>
              <a:t>•  </a:t>
            </a:r>
            <a:r>
              <a:rPr sz="2100" b="1">
                <a:solidFill>
                  <a:srgbClr val="1D1D1D"/>
                </a:solidFill>
                <a:latin typeface="Arial"/>
              </a:rPr>
              <a:t>Vielen Dank für Ihre Aufmerksamkeit</a:t>
            </a:r>
          </a:p>
        </p:txBody>
      </p:sp>
      <p:sp>
        <p:nvSpPr>
          <p:cNvPr id="6" name="TextBox 5"/>
          <p:cNvSpPr txBox="1"/>
          <p:nvPr/>
        </p:nvSpPr>
        <p:spPr>
          <a:xfrm>
            <a:off x="640080" y="6446520"/>
            <a:ext cx="8229600" cy="274320"/>
          </a:xfrm>
          <a:prstGeom prst="rect">
            <a:avLst/>
          </a:prstGeom>
          <a:noFill/>
        </p:spPr>
        <p:txBody>
          <a:bodyPr wrap="square" anchor="t" lIns="45720" rIns="45720">
            <a:spAutoFit/>
          </a:bodyPr>
          <a:lstStyle/>
          <a:p>
            <a:r>
              <a:rPr sz="1100" b="0">
                <a:solidFill>
                  <a:srgbClr val="555555"/>
                </a:solidFill>
                <a:latin typeface="Arial"/>
              </a:rPr>
              <a:t>NOMAD – deutsche Fassung (inoffiziell, Apache-2.0)</a:t>
            </a:r>
          </a:p>
        </p:txBody>
      </p:sp>
      <p:sp>
        <p:nvSpPr>
          <p:cNvPr id="7" name="TextBox 6"/>
          <p:cNvSpPr txBox="1"/>
          <p:nvPr/>
        </p:nvSpPr>
        <p:spPr>
          <a:xfrm>
            <a:off x="10881360" y="6446520"/>
            <a:ext cx="914400" cy="274320"/>
          </a:xfrm>
          <a:prstGeom prst="rect">
            <a:avLst/>
          </a:prstGeom>
          <a:noFill/>
        </p:spPr>
        <p:txBody>
          <a:bodyPr wrap="square" anchor="t" lIns="45720" rIns="45720">
            <a:spAutoFit/>
          </a:bodyPr>
          <a:lstStyle/>
          <a:p>
            <a:pPr algn="r"/>
            <a:r>
              <a:rPr sz="1100" b="0">
                <a:solidFill>
                  <a:srgbClr val="555555"/>
                </a:solidFill>
                <a:latin typeface="Arial"/>
              </a:rPr>
              <a:t>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